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notesMasterIdLst>
    <p:notesMasterId r:id="rId27"/>
  </p:notesMasterIdLst>
  <p:sldIdLst>
    <p:sldId id="256" r:id="rId5"/>
    <p:sldId id="327" r:id="rId6"/>
    <p:sldId id="328" r:id="rId7"/>
    <p:sldId id="343" r:id="rId8"/>
    <p:sldId id="314" r:id="rId9"/>
    <p:sldId id="322" r:id="rId10"/>
    <p:sldId id="301" r:id="rId11"/>
    <p:sldId id="326" r:id="rId12"/>
    <p:sldId id="330" r:id="rId13"/>
    <p:sldId id="342" r:id="rId14"/>
    <p:sldId id="333" r:id="rId15"/>
    <p:sldId id="344" r:id="rId16"/>
    <p:sldId id="345" r:id="rId17"/>
    <p:sldId id="346" r:id="rId18"/>
    <p:sldId id="335" r:id="rId19"/>
    <p:sldId id="338" r:id="rId20"/>
    <p:sldId id="339" r:id="rId21"/>
    <p:sldId id="347" r:id="rId22"/>
    <p:sldId id="312" r:id="rId23"/>
    <p:sldId id="290" r:id="rId24"/>
    <p:sldId id="303" r:id="rId25"/>
    <p:sldId id="311" r:id="rId26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8D533-B24F-41CF-9B5D-84339935EB66}" v="8" dt="2024-09-16T11:31:43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6" autoAdjust="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9A61D1-C125-4298-916B-1210770DEB77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6EFD8B-2DA0-44CC-8926-1FBDF8610193}">
      <dgm:prSet/>
      <dgm:spPr/>
      <dgm:t>
        <a:bodyPr/>
        <a:lstStyle/>
        <a:p>
          <a:pPr>
            <a:defRPr b="1"/>
          </a:pPr>
          <a:r>
            <a:rPr lang="en-GB"/>
            <a:t>Why need a departmental database?</a:t>
          </a:r>
          <a:endParaRPr lang="en-US"/>
        </a:p>
      </dgm:t>
    </dgm:pt>
    <dgm:pt modelId="{6DE1D489-5CBB-4B60-9C7D-CAB1B4792224}" type="parTrans" cxnId="{8E3F11B3-F031-4C72-8F6C-9B9E3A66E101}">
      <dgm:prSet/>
      <dgm:spPr/>
      <dgm:t>
        <a:bodyPr/>
        <a:lstStyle/>
        <a:p>
          <a:endParaRPr lang="en-US"/>
        </a:p>
      </dgm:t>
    </dgm:pt>
    <dgm:pt modelId="{53F5E2AF-3C5A-42DA-A7F3-4BE0AA0FA931}" type="sibTrans" cxnId="{8E3F11B3-F031-4C72-8F6C-9B9E3A66E101}">
      <dgm:prSet/>
      <dgm:spPr/>
      <dgm:t>
        <a:bodyPr/>
        <a:lstStyle/>
        <a:p>
          <a:endParaRPr lang="en-US"/>
        </a:p>
      </dgm:t>
    </dgm:pt>
    <dgm:pt modelId="{2BBA9EBF-212E-468D-AAA7-18A637775AE8}">
      <dgm:prSet/>
      <dgm:spPr/>
      <dgm:t>
        <a:bodyPr/>
        <a:lstStyle/>
        <a:p>
          <a:r>
            <a:rPr lang="en-GB" b="1" i="0"/>
            <a:t>Data Quality &amp; Storage Challenges</a:t>
          </a:r>
          <a:endParaRPr lang="en-US"/>
        </a:p>
      </dgm:t>
    </dgm:pt>
    <dgm:pt modelId="{20BE4A75-5041-4BE4-BADF-D5C66AF944F5}" type="parTrans" cxnId="{3BC54C22-6D74-444F-84A6-44A841B9B7ED}">
      <dgm:prSet/>
      <dgm:spPr/>
      <dgm:t>
        <a:bodyPr/>
        <a:lstStyle/>
        <a:p>
          <a:endParaRPr lang="en-US"/>
        </a:p>
      </dgm:t>
    </dgm:pt>
    <dgm:pt modelId="{43DBF60A-3532-4CD5-A341-E43409C04D8F}" type="sibTrans" cxnId="{3BC54C22-6D74-444F-84A6-44A841B9B7ED}">
      <dgm:prSet/>
      <dgm:spPr/>
      <dgm:t>
        <a:bodyPr/>
        <a:lstStyle/>
        <a:p>
          <a:endParaRPr lang="en-US"/>
        </a:p>
      </dgm:t>
    </dgm:pt>
    <dgm:pt modelId="{FDCF4179-029A-4D17-8136-5BFECC806A63}">
      <dgm:prSet/>
      <dgm:spPr/>
      <dgm:t>
        <a:bodyPr/>
        <a:lstStyle/>
        <a:p>
          <a:pPr>
            <a:defRPr b="1"/>
          </a:pPr>
          <a:r>
            <a:rPr lang="en-GB"/>
            <a:t>Requirement</a:t>
          </a:r>
          <a:endParaRPr lang="en-US"/>
        </a:p>
      </dgm:t>
    </dgm:pt>
    <dgm:pt modelId="{D149F037-501C-46FF-8B78-DF899D8AFFED}" type="parTrans" cxnId="{4B41ED14-D444-4321-B1A5-EAA132A29FAD}">
      <dgm:prSet/>
      <dgm:spPr/>
      <dgm:t>
        <a:bodyPr/>
        <a:lstStyle/>
        <a:p>
          <a:endParaRPr lang="en-US"/>
        </a:p>
      </dgm:t>
    </dgm:pt>
    <dgm:pt modelId="{558E2D55-3EC4-4968-B135-B5CC8A79BE83}" type="sibTrans" cxnId="{4B41ED14-D444-4321-B1A5-EAA132A29FAD}">
      <dgm:prSet/>
      <dgm:spPr/>
      <dgm:t>
        <a:bodyPr/>
        <a:lstStyle/>
        <a:p>
          <a:endParaRPr lang="en-US"/>
        </a:p>
      </dgm:t>
    </dgm:pt>
    <dgm:pt modelId="{28877D9A-0171-4996-B9B6-20F3769F8CCB}">
      <dgm:prSet/>
      <dgm:spPr/>
      <dgm:t>
        <a:bodyPr/>
        <a:lstStyle/>
        <a:p>
          <a:r>
            <a:rPr lang="en-GB" b="1" i="0"/>
            <a:t>Daily Operation Needs</a:t>
          </a:r>
          <a:endParaRPr lang="en-US"/>
        </a:p>
      </dgm:t>
    </dgm:pt>
    <dgm:pt modelId="{F85D683D-357E-4B46-B36E-954B3503C9F8}" type="parTrans" cxnId="{868A0485-3261-4812-97A6-2091D97169D9}">
      <dgm:prSet/>
      <dgm:spPr/>
      <dgm:t>
        <a:bodyPr/>
        <a:lstStyle/>
        <a:p>
          <a:endParaRPr lang="en-US"/>
        </a:p>
      </dgm:t>
    </dgm:pt>
    <dgm:pt modelId="{D5ECBFA3-4A40-43E6-9AF6-55B68F341B35}" type="sibTrans" cxnId="{868A0485-3261-4812-97A6-2091D97169D9}">
      <dgm:prSet/>
      <dgm:spPr/>
      <dgm:t>
        <a:bodyPr/>
        <a:lstStyle/>
        <a:p>
          <a:endParaRPr lang="en-US"/>
        </a:p>
      </dgm:t>
    </dgm:pt>
    <dgm:pt modelId="{A1E98786-4D37-4B96-B053-79BAA058D4F0}">
      <dgm:prSet/>
      <dgm:spPr/>
      <dgm:t>
        <a:bodyPr/>
        <a:lstStyle/>
        <a:p>
          <a:pPr>
            <a:defRPr b="1"/>
          </a:pPr>
          <a:r>
            <a:rPr lang="en-GB"/>
            <a:t>Tools</a:t>
          </a:r>
          <a:endParaRPr lang="en-US"/>
        </a:p>
      </dgm:t>
    </dgm:pt>
    <dgm:pt modelId="{F233EC4C-B6B4-4776-9ECD-1E8F859E7E7A}" type="parTrans" cxnId="{16AE7F5B-C5C5-4880-85A6-5DDF9B1C738D}">
      <dgm:prSet/>
      <dgm:spPr/>
      <dgm:t>
        <a:bodyPr/>
        <a:lstStyle/>
        <a:p>
          <a:endParaRPr lang="en-US"/>
        </a:p>
      </dgm:t>
    </dgm:pt>
    <dgm:pt modelId="{34000DA3-F9D6-4FCF-82EC-26039F175F2D}" type="sibTrans" cxnId="{16AE7F5B-C5C5-4880-85A6-5DDF9B1C738D}">
      <dgm:prSet/>
      <dgm:spPr/>
      <dgm:t>
        <a:bodyPr/>
        <a:lstStyle/>
        <a:p>
          <a:endParaRPr lang="en-US"/>
        </a:p>
      </dgm:t>
    </dgm:pt>
    <dgm:pt modelId="{209DD226-EBAA-4946-AFAE-525C681D51F2}">
      <dgm:prSet/>
      <dgm:spPr/>
      <dgm:t>
        <a:bodyPr/>
        <a:lstStyle/>
        <a:p>
          <a:r>
            <a:rPr lang="en-GB" dirty="0"/>
            <a:t>MSAccess</a:t>
          </a:r>
          <a:endParaRPr lang="en-US" dirty="0"/>
        </a:p>
      </dgm:t>
    </dgm:pt>
    <dgm:pt modelId="{5D5E7E5B-E0E0-4189-88AF-703EEEB461E8}" type="parTrans" cxnId="{03318BC0-8378-4DDD-96E1-3A240889012A}">
      <dgm:prSet/>
      <dgm:spPr/>
      <dgm:t>
        <a:bodyPr/>
        <a:lstStyle/>
        <a:p>
          <a:endParaRPr lang="en-US"/>
        </a:p>
      </dgm:t>
    </dgm:pt>
    <dgm:pt modelId="{1C074ABE-D96A-46F5-96EE-0D3C4F9C65C1}" type="sibTrans" cxnId="{03318BC0-8378-4DDD-96E1-3A240889012A}">
      <dgm:prSet/>
      <dgm:spPr/>
      <dgm:t>
        <a:bodyPr/>
        <a:lstStyle/>
        <a:p>
          <a:endParaRPr lang="en-US"/>
        </a:p>
      </dgm:t>
    </dgm:pt>
    <dgm:pt modelId="{67738776-9DD6-44FD-A1B8-7A37107E759D}">
      <dgm:prSet/>
      <dgm:spPr/>
      <dgm:t>
        <a:bodyPr/>
        <a:lstStyle/>
        <a:p>
          <a:endParaRPr lang="en-US" dirty="0"/>
        </a:p>
      </dgm:t>
    </dgm:pt>
    <dgm:pt modelId="{873C7E08-28A5-473E-A726-EE85658FF806}" type="sibTrans" cxnId="{BC676CB0-2605-4B85-81D5-D4959324F91A}">
      <dgm:prSet/>
      <dgm:spPr/>
      <dgm:t>
        <a:bodyPr/>
        <a:lstStyle/>
        <a:p>
          <a:endParaRPr lang="en-US"/>
        </a:p>
      </dgm:t>
    </dgm:pt>
    <dgm:pt modelId="{FFEAD581-044B-4A9F-8D90-61701589DB15}" type="parTrans" cxnId="{BC676CB0-2605-4B85-81D5-D4959324F91A}">
      <dgm:prSet/>
      <dgm:spPr/>
      <dgm:t>
        <a:bodyPr/>
        <a:lstStyle/>
        <a:p>
          <a:endParaRPr lang="en-US"/>
        </a:p>
      </dgm:t>
    </dgm:pt>
    <dgm:pt modelId="{8ED25028-2783-4581-89BF-2E4AC2C7EBF0}">
      <dgm:prSet/>
      <dgm:spPr/>
      <dgm:t>
        <a:bodyPr/>
        <a:lstStyle/>
        <a:p>
          <a:r>
            <a:rPr lang="en-GB" b="1" i="0"/>
            <a:t>Fragmented Storage</a:t>
          </a:r>
          <a:endParaRPr lang="en-GB" b="0" i="0"/>
        </a:p>
      </dgm:t>
    </dgm:pt>
    <dgm:pt modelId="{929083C3-8B31-47B0-91EE-6748436FAC7B}" type="parTrans" cxnId="{153B7E0B-EAFB-4307-94B2-F387D3999F80}">
      <dgm:prSet/>
      <dgm:spPr/>
      <dgm:t>
        <a:bodyPr/>
        <a:lstStyle/>
        <a:p>
          <a:endParaRPr lang="en-GB"/>
        </a:p>
      </dgm:t>
    </dgm:pt>
    <dgm:pt modelId="{ACF09142-4750-4A7A-8FB1-A0FCD078C888}" type="sibTrans" cxnId="{153B7E0B-EAFB-4307-94B2-F387D3999F80}">
      <dgm:prSet/>
      <dgm:spPr/>
      <dgm:t>
        <a:bodyPr/>
        <a:lstStyle/>
        <a:p>
          <a:endParaRPr lang="en-GB"/>
        </a:p>
      </dgm:t>
    </dgm:pt>
    <dgm:pt modelId="{E46E2A9A-5BAA-41FE-9E5D-12CFB62D7B57}">
      <dgm:prSet/>
      <dgm:spPr/>
      <dgm:t>
        <a:bodyPr/>
        <a:lstStyle/>
        <a:p>
          <a:r>
            <a:rPr lang="en-GB" b="0" i="0"/>
            <a:t>Spreadsheets stored across emails and multiple SharePoint folders</a:t>
          </a:r>
        </a:p>
      </dgm:t>
    </dgm:pt>
    <dgm:pt modelId="{BEC50AF3-0C79-47CA-9609-C23D3761D208}" type="parTrans" cxnId="{787504DB-613C-451B-BEB8-ACB2CDC1611A}">
      <dgm:prSet/>
      <dgm:spPr/>
      <dgm:t>
        <a:bodyPr/>
        <a:lstStyle/>
        <a:p>
          <a:endParaRPr lang="en-GB"/>
        </a:p>
      </dgm:t>
    </dgm:pt>
    <dgm:pt modelId="{F1832126-7DB6-4F78-BBEF-F108F4FB363D}" type="sibTrans" cxnId="{787504DB-613C-451B-BEB8-ACB2CDC1611A}">
      <dgm:prSet/>
      <dgm:spPr/>
      <dgm:t>
        <a:bodyPr/>
        <a:lstStyle/>
        <a:p>
          <a:endParaRPr lang="en-GB"/>
        </a:p>
      </dgm:t>
    </dgm:pt>
    <dgm:pt modelId="{0BBFFE23-4B17-44A2-B9B9-14AF4C40BACE}">
      <dgm:prSet/>
      <dgm:spPr/>
      <dgm:t>
        <a:bodyPr/>
        <a:lstStyle/>
        <a:p>
          <a:r>
            <a:rPr lang="en-GB" b="0" i="0" dirty="0"/>
            <a:t>Multiple versions of the same files</a:t>
          </a:r>
        </a:p>
      </dgm:t>
    </dgm:pt>
    <dgm:pt modelId="{4D932428-A988-4B6A-8129-4B29BA75A4BC}" type="parTrans" cxnId="{C008B2CA-48D1-4FD2-82FA-CC8B8906187F}">
      <dgm:prSet/>
      <dgm:spPr/>
      <dgm:t>
        <a:bodyPr/>
        <a:lstStyle/>
        <a:p>
          <a:endParaRPr lang="en-GB"/>
        </a:p>
      </dgm:t>
    </dgm:pt>
    <dgm:pt modelId="{D9A910B9-C6C5-48B7-AEA0-006059942B08}" type="sibTrans" cxnId="{C008B2CA-48D1-4FD2-82FA-CC8B8906187F}">
      <dgm:prSet/>
      <dgm:spPr/>
      <dgm:t>
        <a:bodyPr/>
        <a:lstStyle/>
        <a:p>
          <a:endParaRPr lang="en-GB"/>
        </a:p>
      </dgm:t>
    </dgm:pt>
    <dgm:pt modelId="{ECB34224-74B8-4CEB-BFC4-919D468CD21D}">
      <dgm:prSet/>
      <dgm:spPr/>
      <dgm:t>
        <a:bodyPr/>
        <a:lstStyle/>
        <a:p>
          <a:r>
            <a:rPr lang="en-GB" b="1" i="0"/>
            <a:t>Duplicate or Inconsistent Entries</a:t>
          </a:r>
          <a:endParaRPr lang="en-GB" b="0" i="0"/>
        </a:p>
      </dgm:t>
    </dgm:pt>
    <dgm:pt modelId="{9455B760-85F7-43ED-83FF-DD2D52486DFD}" type="parTrans" cxnId="{098D529C-D679-479B-BA23-619527FE47BA}">
      <dgm:prSet/>
      <dgm:spPr/>
      <dgm:t>
        <a:bodyPr/>
        <a:lstStyle/>
        <a:p>
          <a:endParaRPr lang="en-GB"/>
        </a:p>
      </dgm:t>
    </dgm:pt>
    <dgm:pt modelId="{29AAED88-D8AF-446E-85B3-CC83A6B76474}" type="sibTrans" cxnId="{098D529C-D679-479B-BA23-619527FE47BA}">
      <dgm:prSet/>
      <dgm:spPr/>
      <dgm:t>
        <a:bodyPr/>
        <a:lstStyle/>
        <a:p>
          <a:endParaRPr lang="en-GB"/>
        </a:p>
      </dgm:t>
    </dgm:pt>
    <dgm:pt modelId="{A0D74605-7101-4D20-B862-E83AA99970EB}">
      <dgm:prSet/>
      <dgm:spPr/>
      <dgm:t>
        <a:bodyPr/>
        <a:lstStyle/>
        <a:p>
          <a:r>
            <a:rPr lang="en-GB" b="0" i="0" dirty="0"/>
            <a:t>Repeated patient details with discrepancies</a:t>
          </a:r>
        </a:p>
      </dgm:t>
    </dgm:pt>
    <dgm:pt modelId="{9C9E0095-3272-4580-844C-AE8A36F1407F}" type="parTrans" cxnId="{D3D89303-7CF0-4F19-861A-B5C0B641B25A}">
      <dgm:prSet/>
      <dgm:spPr/>
      <dgm:t>
        <a:bodyPr/>
        <a:lstStyle/>
        <a:p>
          <a:endParaRPr lang="en-GB"/>
        </a:p>
      </dgm:t>
    </dgm:pt>
    <dgm:pt modelId="{874CA32B-78F6-4F89-9C5C-3A760EDF813A}" type="sibTrans" cxnId="{D3D89303-7CF0-4F19-861A-B5C0B641B25A}">
      <dgm:prSet/>
      <dgm:spPr/>
      <dgm:t>
        <a:bodyPr/>
        <a:lstStyle/>
        <a:p>
          <a:endParaRPr lang="en-GB"/>
        </a:p>
      </dgm:t>
    </dgm:pt>
    <dgm:pt modelId="{3CAD933C-2D85-423E-9401-62D6D196569F}">
      <dgm:prSet/>
      <dgm:spPr/>
      <dgm:t>
        <a:bodyPr/>
        <a:lstStyle/>
        <a:p>
          <a:r>
            <a:rPr lang="en-GB" b="1" i="0"/>
            <a:t>Non-Standardized Data Input</a:t>
          </a:r>
          <a:endParaRPr lang="en-GB" b="0" i="0"/>
        </a:p>
      </dgm:t>
    </dgm:pt>
    <dgm:pt modelId="{FA268227-7264-43C5-AA88-06CD9CF3472A}" type="parTrans" cxnId="{B3E82E5F-5DD3-4654-84CA-F714FCE0A7FC}">
      <dgm:prSet/>
      <dgm:spPr/>
      <dgm:t>
        <a:bodyPr/>
        <a:lstStyle/>
        <a:p>
          <a:endParaRPr lang="en-GB"/>
        </a:p>
      </dgm:t>
    </dgm:pt>
    <dgm:pt modelId="{55D15323-D877-4D10-ACB4-7D4E19CA1C37}" type="sibTrans" cxnId="{B3E82E5F-5DD3-4654-84CA-F714FCE0A7FC}">
      <dgm:prSet/>
      <dgm:spPr/>
      <dgm:t>
        <a:bodyPr/>
        <a:lstStyle/>
        <a:p>
          <a:endParaRPr lang="en-GB"/>
        </a:p>
      </dgm:t>
    </dgm:pt>
    <dgm:pt modelId="{359A03CD-8982-4638-8010-8606688EEBA9}">
      <dgm:prSet/>
      <dgm:spPr/>
      <dgm:t>
        <a:bodyPr/>
        <a:lstStyle/>
        <a:p>
          <a:r>
            <a:rPr lang="en-GB" b="0" i="0" dirty="0"/>
            <a:t>Inconsistent formats (e.g. NHS number vs. registration number)</a:t>
          </a:r>
        </a:p>
      </dgm:t>
    </dgm:pt>
    <dgm:pt modelId="{5039D8C6-4008-4B37-971C-EC43DC3CCA77}" type="parTrans" cxnId="{06BCE8B7-45CE-41B6-97AE-01ED55844723}">
      <dgm:prSet/>
      <dgm:spPr/>
      <dgm:t>
        <a:bodyPr/>
        <a:lstStyle/>
        <a:p>
          <a:endParaRPr lang="en-GB"/>
        </a:p>
      </dgm:t>
    </dgm:pt>
    <dgm:pt modelId="{E45D9680-7889-4A24-A807-5F27907EAEEA}" type="sibTrans" cxnId="{06BCE8B7-45CE-41B6-97AE-01ED55844723}">
      <dgm:prSet/>
      <dgm:spPr/>
      <dgm:t>
        <a:bodyPr/>
        <a:lstStyle/>
        <a:p>
          <a:endParaRPr lang="en-GB"/>
        </a:p>
      </dgm:t>
    </dgm:pt>
    <dgm:pt modelId="{FFAAD799-4BEF-413E-A895-22907F2187FC}">
      <dgm:prSet/>
      <dgm:spPr/>
      <dgm:t>
        <a:bodyPr/>
        <a:lstStyle/>
        <a:p>
          <a:r>
            <a:rPr lang="en-GB" b="0" i="0" dirty="0"/>
            <a:t>Some records contain insufficient or missing data</a:t>
          </a:r>
        </a:p>
      </dgm:t>
    </dgm:pt>
    <dgm:pt modelId="{27E34320-734F-4074-86A0-F918A5BE4D04}" type="parTrans" cxnId="{273C7CD8-36AB-4685-AC67-0CB8B30BA1DF}">
      <dgm:prSet/>
      <dgm:spPr/>
      <dgm:t>
        <a:bodyPr/>
        <a:lstStyle/>
        <a:p>
          <a:endParaRPr lang="en-GB"/>
        </a:p>
      </dgm:t>
    </dgm:pt>
    <dgm:pt modelId="{9247A8CE-CC6B-4BA2-8E6E-3FB518E3F3CD}" type="sibTrans" cxnId="{273C7CD8-36AB-4685-AC67-0CB8B30BA1DF}">
      <dgm:prSet/>
      <dgm:spPr/>
      <dgm:t>
        <a:bodyPr/>
        <a:lstStyle/>
        <a:p>
          <a:endParaRPr lang="en-GB"/>
        </a:p>
      </dgm:t>
    </dgm:pt>
    <dgm:pt modelId="{45ED4F66-67B9-4E54-9414-DB7008F2C83C}">
      <dgm:prSet/>
      <dgm:spPr/>
      <dgm:t>
        <a:bodyPr/>
        <a:lstStyle/>
        <a:p>
          <a:endParaRPr lang="en-GB" b="0" i="0" dirty="0"/>
        </a:p>
      </dgm:t>
    </dgm:pt>
    <dgm:pt modelId="{9CB557A9-4A98-446C-B7D3-93CEAD175AD3}" type="parTrans" cxnId="{1799ED8E-913F-40BE-9530-0BB68C88756C}">
      <dgm:prSet/>
      <dgm:spPr/>
      <dgm:t>
        <a:bodyPr/>
        <a:lstStyle/>
        <a:p>
          <a:endParaRPr lang="en-GB"/>
        </a:p>
      </dgm:t>
    </dgm:pt>
    <dgm:pt modelId="{74AFAF45-4E37-49C4-85B6-63D55FFB0436}" type="sibTrans" cxnId="{1799ED8E-913F-40BE-9530-0BB68C88756C}">
      <dgm:prSet/>
      <dgm:spPr/>
      <dgm:t>
        <a:bodyPr/>
        <a:lstStyle/>
        <a:p>
          <a:endParaRPr lang="en-GB"/>
        </a:p>
      </dgm:t>
    </dgm:pt>
    <dgm:pt modelId="{40CA9A9C-EC7B-4B7A-BA73-41DB63DD2231}">
      <dgm:prSet/>
      <dgm:spPr/>
      <dgm:t>
        <a:bodyPr/>
        <a:lstStyle/>
        <a:p>
          <a:endParaRPr lang="en-GB" b="0" i="0" dirty="0"/>
        </a:p>
      </dgm:t>
    </dgm:pt>
    <dgm:pt modelId="{58AFF9AB-7FF1-4402-B44F-6FC2B512AF9E}" type="parTrans" cxnId="{EA84206A-AB8A-4DA4-910A-F50DB0D2FBF4}">
      <dgm:prSet/>
      <dgm:spPr/>
      <dgm:t>
        <a:bodyPr/>
        <a:lstStyle/>
        <a:p>
          <a:endParaRPr lang="en-GB"/>
        </a:p>
      </dgm:t>
    </dgm:pt>
    <dgm:pt modelId="{F5EAA72D-F60B-44EC-B384-3DA116529300}" type="sibTrans" cxnId="{EA84206A-AB8A-4DA4-910A-F50DB0D2FBF4}">
      <dgm:prSet/>
      <dgm:spPr/>
      <dgm:t>
        <a:bodyPr/>
        <a:lstStyle/>
        <a:p>
          <a:endParaRPr lang="en-GB"/>
        </a:p>
      </dgm:t>
    </dgm:pt>
    <dgm:pt modelId="{F5D04FD4-5DD1-4438-86F2-7A171CC5EA25}">
      <dgm:prSet/>
      <dgm:spPr/>
      <dgm:t>
        <a:bodyPr/>
        <a:lstStyle/>
        <a:p>
          <a:r>
            <a:rPr lang="en-GB" b="0" i="0"/>
            <a:t>Easy data maintenance by nurses/admin staff</a:t>
          </a:r>
        </a:p>
      </dgm:t>
    </dgm:pt>
    <dgm:pt modelId="{D2868CA1-233C-4754-ACEF-789AEB8145E4}" type="parTrans" cxnId="{2DFD5F88-03F2-48BC-AC15-E3F85761CE35}">
      <dgm:prSet/>
      <dgm:spPr/>
      <dgm:t>
        <a:bodyPr/>
        <a:lstStyle/>
        <a:p>
          <a:endParaRPr lang="en-GB"/>
        </a:p>
      </dgm:t>
    </dgm:pt>
    <dgm:pt modelId="{0988DA65-FCAA-49FF-96E7-E1DEE5ADBC1D}" type="sibTrans" cxnId="{2DFD5F88-03F2-48BC-AC15-E3F85761CE35}">
      <dgm:prSet/>
      <dgm:spPr/>
      <dgm:t>
        <a:bodyPr/>
        <a:lstStyle/>
        <a:p>
          <a:endParaRPr lang="en-GB"/>
        </a:p>
      </dgm:t>
    </dgm:pt>
    <dgm:pt modelId="{75710C28-9650-494F-932C-EEB1F6CBECC9}">
      <dgm:prSet/>
      <dgm:spPr/>
      <dgm:t>
        <a:bodyPr/>
        <a:lstStyle/>
        <a:p>
          <a:r>
            <a:rPr lang="en-GB" b="0" i="0"/>
            <a:t>Listing view or printable format to support daily workflows</a:t>
          </a:r>
        </a:p>
      </dgm:t>
    </dgm:pt>
    <dgm:pt modelId="{9DC57A67-B469-4564-8830-38FAB8835DFE}" type="parTrans" cxnId="{DF0C92ED-BB07-4B6F-9C94-813FE011797F}">
      <dgm:prSet/>
      <dgm:spPr/>
      <dgm:t>
        <a:bodyPr/>
        <a:lstStyle/>
        <a:p>
          <a:endParaRPr lang="en-GB"/>
        </a:p>
      </dgm:t>
    </dgm:pt>
    <dgm:pt modelId="{1F510EF7-A5AB-4D9B-9AB9-D7A539B390BC}" type="sibTrans" cxnId="{DF0C92ED-BB07-4B6F-9C94-813FE011797F}">
      <dgm:prSet/>
      <dgm:spPr/>
      <dgm:t>
        <a:bodyPr/>
        <a:lstStyle/>
        <a:p>
          <a:endParaRPr lang="en-GB"/>
        </a:p>
      </dgm:t>
    </dgm:pt>
    <dgm:pt modelId="{BDDE4802-BFA3-4418-8381-5684FE6CB303}">
      <dgm:prSet/>
      <dgm:spPr/>
      <dgm:t>
        <a:bodyPr/>
        <a:lstStyle/>
        <a:p>
          <a:r>
            <a:rPr lang="en-GB" b="0" i="0"/>
            <a:t>Reminder/alert system for missed processes or treatments</a:t>
          </a:r>
        </a:p>
      </dgm:t>
    </dgm:pt>
    <dgm:pt modelId="{8357FC0A-EDEF-4421-84A8-6B3E47D37F86}" type="parTrans" cxnId="{0135231A-E8B7-4723-A1EA-055A15BABD0D}">
      <dgm:prSet/>
      <dgm:spPr/>
      <dgm:t>
        <a:bodyPr/>
        <a:lstStyle/>
        <a:p>
          <a:endParaRPr lang="en-GB"/>
        </a:p>
      </dgm:t>
    </dgm:pt>
    <dgm:pt modelId="{F31CF9B2-FACA-4622-BF6B-865FCF61DB23}" type="sibTrans" cxnId="{0135231A-E8B7-4723-A1EA-055A15BABD0D}">
      <dgm:prSet/>
      <dgm:spPr/>
      <dgm:t>
        <a:bodyPr/>
        <a:lstStyle/>
        <a:p>
          <a:endParaRPr lang="en-GB"/>
        </a:p>
      </dgm:t>
    </dgm:pt>
    <dgm:pt modelId="{3479837B-2BD1-45E4-BB87-E4B857AD518B}">
      <dgm:prSet/>
      <dgm:spPr/>
      <dgm:t>
        <a:bodyPr/>
        <a:lstStyle/>
        <a:p>
          <a:r>
            <a:rPr lang="en-GB" b="0" i="0"/>
            <a:t>Search functionality</a:t>
          </a:r>
        </a:p>
      </dgm:t>
    </dgm:pt>
    <dgm:pt modelId="{72C75F82-ED6E-4F52-820B-37A11CED6D36}" type="parTrans" cxnId="{05ADDB32-5A12-4639-BD81-D928DD62328D}">
      <dgm:prSet/>
      <dgm:spPr/>
      <dgm:t>
        <a:bodyPr/>
        <a:lstStyle/>
        <a:p>
          <a:endParaRPr lang="en-GB"/>
        </a:p>
      </dgm:t>
    </dgm:pt>
    <dgm:pt modelId="{5412854A-571B-4581-A959-8B5CAEDA0B29}" type="sibTrans" cxnId="{05ADDB32-5A12-4639-BD81-D928DD62328D}">
      <dgm:prSet/>
      <dgm:spPr/>
      <dgm:t>
        <a:bodyPr/>
        <a:lstStyle/>
        <a:p>
          <a:endParaRPr lang="en-GB"/>
        </a:p>
      </dgm:t>
    </dgm:pt>
    <dgm:pt modelId="{763831B6-7DE4-43CE-A633-83AD6EB775C1}">
      <dgm:prSet/>
      <dgm:spPr/>
      <dgm:t>
        <a:bodyPr/>
        <a:lstStyle/>
        <a:p>
          <a:r>
            <a:rPr lang="en-GB" b="0" i="0" dirty="0"/>
            <a:t>Patient-based and listing views (e.g. by financial year)</a:t>
          </a:r>
        </a:p>
      </dgm:t>
    </dgm:pt>
    <dgm:pt modelId="{E51EB8F7-ECA1-41BA-970A-52C25F95DC58}" type="parTrans" cxnId="{E1F0FFD1-7022-4BD0-BB72-3D5C55AD59BB}">
      <dgm:prSet/>
      <dgm:spPr/>
      <dgm:t>
        <a:bodyPr/>
        <a:lstStyle/>
        <a:p>
          <a:endParaRPr lang="en-GB"/>
        </a:p>
      </dgm:t>
    </dgm:pt>
    <dgm:pt modelId="{A14ECC9B-B1A8-4AC7-BDC0-6BDC96FA597C}" type="sibTrans" cxnId="{E1F0FFD1-7022-4BD0-BB72-3D5C55AD59BB}">
      <dgm:prSet/>
      <dgm:spPr/>
      <dgm:t>
        <a:bodyPr/>
        <a:lstStyle/>
        <a:p>
          <a:endParaRPr lang="en-GB"/>
        </a:p>
      </dgm:t>
    </dgm:pt>
    <dgm:pt modelId="{D87C0888-9D87-4378-9F7B-EE7A217E893C}">
      <dgm:prSet/>
      <dgm:spPr/>
      <dgm:t>
        <a:bodyPr/>
        <a:lstStyle/>
        <a:p>
          <a:r>
            <a:rPr lang="en-GB" b="1" i="0"/>
            <a:t>Management Requirements</a:t>
          </a:r>
        </a:p>
      </dgm:t>
    </dgm:pt>
    <dgm:pt modelId="{D126A3D4-7F71-47A5-BF40-2F735A117855}" type="parTrans" cxnId="{C93FB31C-4325-40A5-A46C-DFAC3D9C466D}">
      <dgm:prSet/>
      <dgm:spPr/>
      <dgm:t>
        <a:bodyPr/>
        <a:lstStyle/>
        <a:p>
          <a:endParaRPr lang="en-GB"/>
        </a:p>
      </dgm:t>
    </dgm:pt>
    <dgm:pt modelId="{68F1F332-36DE-49C2-B7BC-13F87BD11DFE}" type="sibTrans" cxnId="{C93FB31C-4325-40A5-A46C-DFAC3D9C466D}">
      <dgm:prSet/>
      <dgm:spPr/>
      <dgm:t>
        <a:bodyPr/>
        <a:lstStyle/>
        <a:p>
          <a:endParaRPr lang="en-GB"/>
        </a:p>
      </dgm:t>
    </dgm:pt>
    <dgm:pt modelId="{735F8112-A01F-42A7-8D8D-0FD53197910A}">
      <dgm:prSet/>
      <dgm:spPr/>
      <dgm:t>
        <a:bodyPr/>
        <a:lstStyle/>
        <a:p>
          <a:r>
            <a:rPr lang="en-GB" b="0" i="0"/>
            <a:t>Dashboard with high-level figures for meetings and decision-making</a:t>
          </a:r>
        </a:p>
      </dgm:t>
    </dgm:pt>
    <dgm:pt modelId="{2C2F27D5-6CAF-4CB1-8ED0-9B2243FE5D8D}" type="parTrans" cxnId="{F199301E-DE82-461B-809F-B18C1D3219EC}">
      <dgm:prSet/>
      <dgm:spPr/>
      <dgm:t>
        <a:bodyPr/>
        <a:lstStyle/>
        <a:p>
          <a:endParaRPr lang="en-GB"/>
        </a:p>
      </dgm:t>
    </dgm:pt>
    <dgm:pt modelId="{B385687E-918A-42FB-9047-D43CA243538C}" type="sibTrans" cxnId="{F199301E-DE82-461B-809F-B18C1D3219EC}">
      <dgm:prSet/>
      <dgm:spPr/>
      <dgm:t>
        <a:bodyPr/>
        <a:lstStyle/>
        <a:p>
          <a:endParaRPr lang="en-GB"/>
        </a:p>
      </dgm:t>
    </dgm:pt>
    <dgm:pt modelId="{98270C9F-6F1A-47D8-8F63-95FF57F939D7}">
      <dgm:prSet/>
      <dgm:spPr/>
      <dgm:t>
        <a:bodyPr/>
        <a:lstStyle/>
        <a:p>
          <a:r>
            <a:rPr lang="en-GB" b="0" i="0"/>
            <a:t>Insights and forecasting based on data trends</a:t>
          </a:r>
        </a:p>
      </dgm:t>
    </dgm:pt>
    <dgm:pt modelId="{19E92B5D-8DAA-466B-9C73-C7BCD3E2E177}" type="parTrans" cxnId="{316C32B2-95F5-44B9-B994-569194E84A3F}">
      <dgm:prSet/>
      <dgm:spPr/>
      <dgm:t>
        <a:bodyPr/>
        <a:lstStyle/>
        <a:p>
          <a:endParaRPr lang="en-GB"/>
        </a:p>
      </dgm:t>
    </dgm:pt>
    <dgm:pt modelId="{9B1F286B-9113-4BDC-8228-BC923AF80DCD}" type="sibTrans" cxnId="{316C32B2-95F5-44B9-B994-569194E84A3F}">
      <dgm:prSet/>
      <dgm:spPr/>
      <dgm:t>
        <a:bodyPr/>
        <a:lstStyle/>
        <a:p>
          <a:endParaRPr lang="en-GB"/>
        </a:p>
      </dgm:t>
    </dgm:pt>
    <dgm:pt modelId="{1425FACF-06CA-492D-9E9A-FF9BA0625EC3}">
      <dgm:prSet/>
      <dgm:spPr/>
      <dgm:t>
        <a:bodyPr/>
        <a:lstStyle/>
        <a:p>
          <a:r>
            <a:rPr lang="en-GB" b="1" i="0"/>
            <a:t>Development Considerations</a:t>
          </a:r>
        </a:p>
      </dgm:t>
    </dgm:pt>
    <dgm:pt modelId="{405EAF4D-C9AB-4695-90AC-1C549A1A0C2D}" type="parTrans" cxnId="{874CAFA4-39BD-47F8-A578-952213452B88}">
      <dgm:prSet/>
      <dgm:spPr/>
      <dgm:t>
        <a:bodyPr/>
        <a:lstStyle/>
        <a:p>
          <a:endParaRPr lang="en-GB"/>
        </a:p>
      </dgm:t>
    </dgm:pt>
    <dgm:pt modelId="{0266C187-532A-4F39-BD06-332650F234C8}" type="sibTrans" cxnId="{874CAFA4-39BD-47F8-A578-952213452B88}">
      <dgm:prSet/>
      <dgm:spPr/>
      <dgm:t>
        <a:bodyPr/>
        <a:lstStyle/>
        <a:p>
          <a:endParaRPr lang="en-GB"/>
        </a:p>
      </dgm:t>
    </dgm:pt>
    <dgm:pt modelId="{9F41D931-5FC8-47E6-8CF1-D66EA4E56B84}">
      <dgm:prSet/>
      <dgm:spPr/>
      <dgm:t>
        <a:bodyPr/>
        <a:lstStyle/>
        <a:p>
          <a:r>
            <a:rPr lang="en-GB" b="0" i="0"/>
            <a:t>Simple development process (suitable for a sole developer)</a:t>
          </a:r>
        </a:p>
      </dgm:t>
    </dgm:pt>
    <dgm:pt modelId="{A6732926-ADE6-4880-BD42-BFBC6A52A6C0}" type="parTrans" cxnId="{A14285C9-13FA-43EB-845D-FB01BB7E6866}">
      <dgm:prSet/>
      <dgm:spPr/>
      <dgm:t>
        <a:bodyPr/>
        <a:lstStyle/>
        <a:p>
          <a:endParaRPr lang="en-GB"/>
        </a:p>
      </dgm:t>
    </dgm:pt>
    <dgm:pt modelId="{42104929-9DAB-4D85-A201-DF954490322D}" type="sibTrans" cxnId="{A14285C9-13FA-43EB-845D-FB01BB7E6866}">
      <dgm:prSet/>
      <dgm:spPr/>
      <dgm:t>
        <a:bodyPr/>
        <a:lstStyle/>
        <a:p>
          <a:endParaRPr lang="en-GB"/>
        </a:p>
      </dgm:t>
    </dgm:pt>
    <dgm:pt modelId="{A533E707-ED97-40BD-BA1E-B54586894BFC}">
      <dgm:prSet/>
      <dgm:spPr/>
      <dgm:t>
        <a:bodyPr/>
        <a:lstStyle/>
        <a:p>
          <a:r>
            <a:rPr lang="en-GB" b="0" i="0"/>
            <a:t>Tools to support data cleansing</a:t>
          </a:r>
        </a:p>
      </dgm:t>
    </dgm:pt>
    <dgm:pt modelId="{A400B386-7AD2-4F22-8211-5768DAEC55D2}" type="parTrans" cxnId="{CE9B5176-8DAE-4378-A25B-40E260E6ED30}">
      <dgm:prSet/>
      <dgm:spPr/>
      <dgm:t>
        <a:bodyPr/>
        <a:lstStyle/>
        <a:p>
          <a:endParaRPr lang="en-GB"/>
        </a:p>
      </dgm:t>
    </dgm:pt>
    <dgm:pt modelId="{3A6A0417-D88D-43FA-9A55-6514E188FF6B}" type="sibTrans" cxnId="{CE9B5176-8DAE-4378-A25B-40E260E6ED30}">
      <dgm:prSet/>
      <dgm:spPr/>
      <dgm:t>
        <a:bodyPr/>
        <a:lstStyle/>
        <a:p>
          <a:endParaRPr lang="en-GB"/>
        </a:p>
      </dgm:t>
    </dgm:pt>
    <dgm:pt modelId="{45C0E353-C28B-43F5-B545-5A57EBEEFDFA}">
      <dgm:prSet/>
      <dgm:spPr/>
      <dgm:t>
        <a:bodyPr/>
        <a:lstStyle/>
        <a:p>
          <a:r>
            <a:rPr lang="en-GB" b="0" i="0"/>
            <a:t>Flexible setup with no additional installation required for end users</a:t>
          </a:r>
        </a:p>
      </dgm:t>
    </dgm:pt>
    <dgm:pt modelId="{B309070B-36D9-4BF8-8F7A-216A35974EDC}" type="parTrans" cxnId="{DC90B367-9221-48C2-B219-1C2A7E9FC14F}">
      <dgm:prSet/>
      <dgm:spPr/>
      <dgm:t>
        <a:bodyPr/>
        <a:lstStyle/>
        <a:p>
          <a:endParaRPr lang="en-GB"/>
        </a:p>
      </dgm:t>
    </dgm:pt>
    <dgm:pt modelId="{F139CDB6-DF0C-462C-897F-9FE48C71E382}" type="sibTrans" cxnId="{DC90B367-9221-48C2-B219-1C2A7E9FC14F}">
      <dgm:prSet/>
      <dgm:spPr/>
      <dgm:t>
        <a:bodyPr/>
        <a:lstStyle/>
        <a:p>
          <a:endParaRPr lang="en-GB"/>
        </a:p>
      </dgm:t>
    </dgm:pt>
    <dgm:pt modelId="{012743B7-893E-449A-8F00-AA50E0376E77}" type="pres">
      <dgm:prSet presAssocID="{A19A61D1-C125-4298-916B-1210770DEB77}" presName="Name0" presStyleCnt="0">
        <dgm:presLayoutVars>
          <dgm:dir/>
          <dgm:animLvl val="lvl"/>
          <dgm:resizeHandles val="exact"/>
        </dgm:presLayoutVars>
      </dgm:prSet>
      <dgm:spPr/>
    </dgm:pt>
    <dgm:pt modelId="{29308D8D-1EB4-4DAC-90F5-A6C659064C91}" type="pres">
      <dgm:prSet presAssocID="{B26EFD8B-2DA0-44CC-8926-1FBDF8610193}" presName="composite" presStyleCnt="0"/>
      <dgm:spPr/>
    </dgm:pt>
    <dgm:pt modelId="{89171445-3C5E-477D-8E81-05D208D8C246}" type="pres">
      <dgm:prSet presAssocID="{B26EFD8B-2DA0-44CC-8926-1FBDF8610193}" presName="parTx" presStyleLbl="alignNode1" presStyleIdx="0" presStyleCnt="3">
        <dgm:presLayoutVars>
          <dgm:chMax val="0"/>
          <dgm:chPref val="0"/>
        </dgm:presLayoutVars>
      </dgm:prSet>
      <dgm:spPr/>
    </dgm:pt>
    <dgm:pt modelId="{424FD2AE-0225-4B73-80B6-755A5475D9A3}" type="pres">
      <dgm:prSet presAssocID="{B26EFD8B-2DA0-44CC-8926-1FBDF8610193}" presName="desTx" presStyleLbl="alignAccFollowNode1" presStyleIdx="0" presStyleCnt="3">
        <dgm:presLayoutVars/>
      </dgm:prSet>
      <dgm:spPr/>
    </dgm:pt>
    <dgm:pt modelId="{2E47FB4D-1068-4E53-8320-68AD03FC67E5}" type="pres">
      <dgm:prSet presAssocID="{53F5E2AF-3C5A-42DA-A7F3-4BE0AA0FA931}" presName="space" presStyleCnt="0"/>
      <dgm:spPr/>
    </dgm:pt>
    <dgm:pt modelId="{AD0F5406-E27D-41AC-B09E-F6CC4BCDACA0}" type="pres">
      <dgm:prSet presAssocID="{FDCF4179-029A-4D17-8136-5BFECC806A63}" presName="composite" presStyleCnt="0"/>
      <dgm:spPr/>
    </dgm:pt>
    <dgm:pt modelId="{53CDAC0E-6DDF-43AA-BA63-48DABF6384ED}" type="pres">
      <dgm:prSet presAssocID="{FDCF4179-029A-4D17-8136-5BFECC806A63}" presName="parTx" presStyleLbl="alignNode1" presStyleIdx="1" presStyleCnt="3">
        <dgm:presLayoutVars>
          <dgm:chMax val="0"/>
          <dgm:chPref val="0"/>
        </dgm:presLayoutVars>
      </dgm:prSet>
      <dgm:spPr/>
    </dgm:pt>
    <dgm:pt modelId="{475B0DAB-399D-4229-BD07-25DC9F3D7768}" type="pres">
      <dgm:prSet presAssocID="{FDCF4179-029A-4D17-8136-5BFECC806A63}" presName="desTx" presStyleLbl="alignAccFollowNode1" presStyleIdx="1" presStyleCnt="3">
        <dgm:presLayoutVars/>
      </dgm:prSet>
      <dgm:spPr/>
    </dgm:pt>
    <dgm:pt modelId="{AA780FC7-5849-4FD8-8389-A76A9941DD6F}" type="pres">
      <dgm:prSet presAssocID="{558E2D55-3EC4-4968-B135-B5CC8A79BE83}" presName="space" presStyleCnt="0"/>
      <dgm:spPr/>
    </dgm:pt>
    <dgm:pt modelId="{365C2E4A-5807-4226-ADAB-776412DDE5BE}" type="pres">
      <dgm:prSet presAssocID="{A1E98786-4D37-4B96-B053-79BAA058D4F0}" presName="composite" presStyleCnt="0"/>
      <dgm:spPr/>
    </dgm:pt>
    <dgm:pt modelId="{CC1D8F05-A81F-4C15-9279-35DF92B08E81}" type="pres">
      <dgm:prSet presAssocID="{A1E98786-4D37-4B96-B053-79BAA058D4F0}" presName="parTx" presStyleLbl="alignNode1" presStyleIdx="2" presStyleCnt="3">
        <dgm:presLayoutVars>
          <dgm:chMax val="0"/>
          <dgm:chPref val="0"/>
        </dgm:presLayoutVars>
      </dgm:prSet>
      <dgm:spPr/>
    </dgm:pt>
    <dgm:pt modelId="{1456C5E4-A067-4717-BD8B-CA430C52EC10}" type="pres">
      <dgm:prSet presAssocID="{A1E98786-4D37-4B96-B053-79BAA058D4F0}" presName="desTx" presStyleLbl="alignAccFollowNode1" presStyleIdx="2" presStyleCnt="3">
        <dgm:presLayoutVars/>
      </dgm:prSet>
      <dgm:spPr/>
    </dgm:pt>
  </dgm:ptLst>
  <dgm:cxnLst>
    <dgm:cxn modelId="{29633B00-5832-43DA-B68C-6E4AB3A2714F}" type="presOf" srcId="{40CA9A9C-EC7B-4B7A-BA73-41DB63DD2231}" destId="{424FD2AE-0225-4B73-80B6-755A5475D9A3}" srcOrd="0" destOrd="7" presId="urn:microsoft.com/office/officeart/2016/7/layout/ChevronBlockProcess"/>
    <dgm:cxn modelId="{D3D89303-7CF0-4F19-861A-B5C0B641B25A}" srcId="{ECB34224-74B8-4CEB-BFC4-919D468CD21D}" destId="{A0D74605-7101-4D20-B862-E83AA99970EB}" srcOrd="0" destOrd="0" parTransId="{9C9E0095-3272-4580-844C-AE8A36F1407F}" sibTransId="{874CA32B-78F6-4F89-9C5C-3A760EDF813A}"/>
    <dgm:cxn modelId="{BFAEDF04-5077-4C36-A9B4-5573A0DBF9D5}" type="presOf" srcId="{A1E98786-4D37-4B96-B053-79BAA058D4F0}" destId="{CC1D8F05-A81F-4C15-9279-35DF92B08E81}" srcOrd="0" destOrd="0" presId="urn:microsoft.com/office/officeart/2016/7/layout/ChevronBlockProcess"/>
    <dgm:cxn modelId="{153B7E0B-EAFB-4307-94B2-F387D3999F80}" srcId="{B26EFD8B-2DA0-44CC-8926-1FBDF8610193}" destId="{8ED25028-2783-4581-89BF-2E4AC2C7EBF0}" srcOrd="1" destOrd="0" parTransId="{929083C3-8B31-47B0-91EE-6748436FAC7B}" sibTransId="{ACF09142-4750-4A7A-8FB1-A0FCD078C888}"/>
    <dgm:cxn modelId="{FBDBAD12-08DC-4C4A-B179-E333FF4CED9D}" type="presOf" srcId="{67738776-9DD6-44FD-A1B8-7A37107E759D}" destId="{475B0DAB-399D-4229-BD07-25DC9F3D7768}" srcOrd="0" destOrd="13" presId="urn:microsoft.com/office/officeart/2016/7/layout/ChevronBlockProcess"/>
    <dgm:cxn modelId="{4B41ED14-D444-4321-B1A5-EAA132A29FAD}" srcId="{A19A61D1-C125-4298-916B-1210770DEB77}" destId="{FDCF4179-029A-4D17-8136-5BFECC806A63}" srcOrd="1" destOrd="0" parTransId="{D149F037-501C-46FF-8B78-DF899D8AFFED}" sibTransId="{558E2D55-3EC4-4968-B135-B5CC8A79BE83}"/>
    <dgm:cxn modelId="{F44C3317-0655-4849-A933-EFFF2092EA50}" type="presOf" srcId="{45ED4F66-67B9-4E54-9414-DB7008F2C83C}" destId="{424FD2AE-0225-4B73-80B6-755A5475D9A3}" srcOrd="0" destOrd="4" presId="urn:microsoft.com/office/officeart/2016/7/layout/ChevronBlockProcess"/>
    <dgm:cxn modelId="{E4FBF017-77BC-4432-9BC4-4CFA479F3C46}" type="presOf" srcId="{75710C28-9650-494F-932C-EEB1F6CBECC9}" destId="{475B0DAB-399D-4229-BD07-25DC9F3D7768}" srcOrd="0" destOrd="2" presId="urn:microsoft.com/office/officeart/2016/7/layout/ChevronBlockProcess"/>
    <dgm:cxn modelId="{0135231A-E8B7-4723-A1EA-055A15BABD0D}" srcId="{FDCF4179-029A-4D17-8136-5BFECC806A63}" destId="{BDDE4802-BFA3-4418-8381-5684FE6CB303}" srcOrd="3" destOrd="0" parTransId="{8357FC0A-EDEF-4421-84A8-6B3E47D37F86}" sibTransId="{F31CF9B2-FACA-4622-BF6B-865FCF61DB23}"/>
    <dgm:cxn modelId="{C93FB31C-4325-40A5-A46C-DFAC3D9C466D}" srcId="{FDCF4179-029A-4D17-8136-5BFECC806A63}" destId="{D87C0888-9D87-4378-9F7B-EE7A217E893C}" srcOrd="6" destOrd="0" parTransId="{D126A3D4-7F71-47A5-BF40-2F735A117855}" sibTransId="{68F1F332-36DE-49C2-B7BC-13F87BD11DFE}"/>
    <dgm:cxn modelId="{F199301E-DE82-461B-809F-B18C1D3219EC}" srcId="{FDCF4179-029A-4D17-8136-5BFECC806A63}" destId="{735F8112-A01F-42A7-8D8D-0FD53197910A}" srcOrd="7" destOrd="0" parTransId="{2C2F27D5-6CAF-4CB1-8ED0-9B2243FE5D8D}" sibTransId="{B385687E-918A-42FB-9047-D43CA243538C}"/>
    <dgm:cxn modelId="{BD0E9120-201E-4D48-9E49-C9EC65E49344}" type="presOf" srcId="{D87C0888-9D87-4378-9F7B-EE7A217E893C}" destId="{475B0DAB-399D-4229-BD07-25DC9F3D7768}" srcOrd="0" destOrd="6" presId="urn:microsoft.com/office/officeart/2016/7/layout/ChevronBlockProcess"/>
    <dgm:cxn modelId="{3BC54C22-6D74-444F-84A6-44A841B9B7ED}" srcId="{B26EFD8B-2DA0-44CC-8926-1FBDF8610193}" destId="{2BBA9EBF-212E-468D-AAA7-18A637775AE8}" srcOrd="0" destOrd="0" parTransId="{20BE4A75-5041-4BE4-BADF-D5C66AF944F5}" sibTransId="{43DBF60A-3532-4CD5-A341-E43409C04D8F}"/>
    <dgm:cxn modelId="{E009AA26-5BAA-4924-B350-F00B54D35030}" type="presOf" srcId="{3CAD933C-2D85-423E-9401-62D6D196569F}" destId="{424FD2AE-0225-4B73-80B6-755A5475D9A3}" srcOrd="0" destOrd="8" presId="urn:microsoft.com/office/officeart/2016/7/layout/ChevronBlockProcess"/>
    <dgm:cxn modelId="{F9EC222A-25DA-4BC3-BE5B-B236C6EF4E1E}" type="presOf" srcId="{FDCF4179-029A-4D17-8136-5BFECC806A63}" destId="{53CDAC0E-6DDF-43AA-BA63-48DABF6384ED}" srcOrd="0" destOrd="0" presId="urn:microsoft.com/office/officeart/2016/7/layout/ChevronBlockProcess"/>
    <dgm:cxn modelId="{05ADDB32-5A12-4639-BD81-D928DD62328D}" srcId="{FDCF4179-029A-4D17-8136-5BFECC806A63}" destId="{3479837B-2BD1-45E4-BB87-E4B857AD518B}" srcOrd="4" destOrd="0" parTransId="{72C75F82-ED6E-4F52-820B-37A11CED6D36}" sibTransId="{5412854A-571B-4581-A959-8B5CAEDA0B29}"/>
    <dgm:cxn modelId="{1297F940-A9F4-4DB6-B62F-CE25032A8F75}" type="presOf" srcId="{9F41D931-5FC8-47E6-8CF1-D66EA4E56B84}" destId="{475B0DAB-399D-4229-BD07-25DC9F3D7768}" srcOrd="0" destOrd="10" presId="urn:microsoft.com/office/officeart/2016/7/layout/ChevronBlockProcess"/>
    <dgm:cxn modelId="{16AE7F5B-C5C5-4880-85A6-5DDF9B1C738D}" srcId="{A19A61D1-C125-4298-916B-1210770DEB77}" destId="{A1E98786-4D37-4B96-B053-79BAA058D4F0}" srcOrd="2" destOrd="0" parTransId="{F233EC4C-B6B4-4776-9ECD-1E8F859E7E7A}" sibTransId="{34000DA3-F9D6-4FCF-82EC-26039F175F2D}"/>
    <dgm:cxn modelId="{B3E82E5F-5DD3-4654-84CA-F714FCE0A7FC}" srcId="{B26EFD8B-2DA0-44CC-8926-1FBDF8610193}" destId="{3CAD933C-2D85-423E-9401-62D6D196569F}" srcOrd="3" destOrd="0" parTransId="{FA268227-7264-43C5-AA88-06CD9CF3472A}" sibTransId="{55D15323-D877-4D10-ACB4-7D4E19CA1C37}"/>
    <dgm:cxn modelId="{74774065-008C-47B0-8190-8771B847F761}" type="presOf" srcId="{359A03CD-8982-4638-8010-8606688EEBA9}" destId="{424FD2AE-0225-4B73-80B6-755A5475D9A3}" srcOrd="0" destOrd="9" presId="urn:microsoft.com/office/officeart/2016/7/layout/ChevronBlockProcess"/>
    <dgm:cxn modelId="{2499C665-FA2C-4D2E-B447-3A6D3ACBBB6B}" type="presOf" srcId="{FFAAD799-4BEF-413E-A895-22907F2187FC}" destId="{424FD2AE-0225-4B73-80B6-755A5475D9A3}" srcOrd="0" destOrd="10" presId="urn:microsoft.com/office/officeart/2016/7/layout/ChevronBlockProcess"/>
    <dgm:cxn modelId="{DC90B367-9221-48C2-B219-1C2A7E9FC14F}" srcId="{FDCF4179-029A-4D17-8136-5BFECC806A63}" destId="{45C0E353-C28B-43F5-B545-5A57EBEEFDFA}" srcOrd="12" destOrd="0" parTransId="{B309070B-36D9-4BF8-8F7A-216A35974EDC}" sibTransId="{F139CDB6-DF0C-462C-897F-9FE48C71E382}"/>
    <dgm:cxn modelId="{69D06E49-1A25-4915-A4C4-D146D3378164}" type="presOf" srcId="{763831B6-7DE4-43CE-A633-83AD6EB775C1}" destId="{475B0DAB-399D-4229-BD07-25DC9F3D7768}" srcOrd="0" destOrd="5" presId="urn:microsoft.com/office/officeart/2016/7/layout/ChevronBlockProcess"/>
    <dgm:cxn modelId="{452AED69-7C51-487D-BB7C-F5A997DB058B}" type="presOf" srcId="{209DD226-EBAA-4946-AFAE-525C681D51F2}" destId="{1456C5E4-A067-4717-BD8B-CA430C52EC10}" srcOrd="0" destOrd="0" presId="urn:microsoft.com/office/officeart/2016/7/layout/ChevronBlockProcess"/>
    <dgm:cxn modelId="{EA84206A-AB8A-4DA4-910A-F50DB0D2FBF4}" srcId="{ECB34224-74B8-4CEB-BFC4-919D468CD21D}" destId="{40CA9A9C-EC7B-4B7A-BA73-41DB63DD2231}" srcOrd="1" destOrd="0" parTransId="{58AFF9AB-7FF1-4402-B44F-6FC2B512AF9E}" sibTransId="{F5EAA72D-F60B-44EC-B384-3DA116529300}"/>
    <dgm:cxn modelId="{CE9B5176-8DAE-4378-A25B-40E260E6ED30}" srcId="{FDCF4179-029A-4D17-8136-5BFECC806A63}" destId="{A533E707-ED97-40BD-BA1E-B54586894BFC}" srcOrd="11" destOrd="0" parTransId="{A400B386-7AD2-4F22-8211-5768DAEC55D2}" sibTransId="{3A6A0417-D88D-43FA-9A55-6514E188FF6B}"/>
    <dgm:cxn modelId="{F0739E76-A8F5-4EC8-BE8F-103AD19BC88C}" type="presOf" srcId="{E46E2A9A-5BAA-41FE-9E5D-12CFB62D7B57}" destId="{424FD2AE-0225-4B73-80B6-755A5475D9A3}" srcOrd="0" destOrd="2" presId="urn:microsoft.com/office/officeart/2016/7/layout/ChevronBlockProcess"/>
    <dgm:cxn modelId="{88960F77-133D-4B72-93D6-A4BD5DE4CA5D}" type="presOf" srcId="{8ED25028-2783-4581-89BF-2E4AC2C7EBF0}" destId="{424FD2AE-0225-4B73-80B6-755A5475D9A3}" srcOrd="0" destOrd="1" presId="urn:microsoft.com/office/officeart/2016/7/layout/ChevronBlockProcess"/>
    <dgm:cxn modelId="{9828EC7D-A80A-41F3-A9DA-2AA75B054652}" type="presOf" srcId="{BDDE4802-BFA3-4418-8381-5684FE6CB303}" destId="{475B0DAB-399D-4229-BD07-25DC9F3D7768}" srcOrd="0" destOrd="3" presId="urn:microsoft.com/office/officeart/2016/7/layout/ChevronBlockProcess"/>
    <dgm:cxn modelId="{8CD03380-F6D3-44EE-A014-1F8D2993FF2A}" type="presOf" srcId="{735F8112-A01F-42A7-8D8D-0FD53197910A}" destId="{475B0DAB-399D-4229-BD07-25DC9F3D7768}" srcOrd="0" destOrd="7" presId="urn:microsoft.com/office/officeart/2016/7/layout/ChevronBlockProcess"/>
    <dgm:cxn modelId="{694C5E82-B821-42B5-8617-6268BA485A57}" type="presOf" srcId="{2BBA9EBF-212E-468D-AAA7-18A637775AE8}" destId="{424FD2AE-0225-4B73-80B6-755A5475D9A3}" srcOrd="0" destOrd="0" presId="urn:microsoft.com/office/officeart/2016/7/layout/ChevronBlockProcess"/>
    <dgm:cxn modelId="{F94DA384-D6FA-45F0-A825-A8C004B7AE60}" type="presOf" srcId="{28877D9A-0171-4996-B9B6-20F3769F8CCB}" destId="{475B0DAB-399D-4229-BD07-25DC9F3D7768}" srcOrd="0" destOrd="0" presId="urn:microsoft.com/office/officeart/2016/7/layout/ChevronBlockProcess"/>
    <dgm:cxn modelId="{868A0485-3261-4812-97A6-2091D97169D9}" srcId="{FDCF4179-029A-4D17-8136-5BFECC806A63}" destId="{28877D9A-0171-4996-B9B6-20F3769F8CCB}" srcOrd="0" destOrd="0" parTransId="{F85D683D-357E-4B46-B36E-954B3503C9F8}" sibTransId="{D5ECBFA3-4A40-43E6-9AF6-55B68F341B35}"/>
    <dgm:cxn modelId="{2DFD5F88-03F2-48BC-AC15-E3F85761CE35}" srcId="{FDCF4179-029A-4D17-8136-5BFECC806A63}" destId="{F5D04FD4-5DD1-4438-86F2-7A171CC5EA25}" srcOrd="1" destOrd="0" parTransId="{D2868CA1-233C-4754-ACEF-789AEB8145E4}" sibTransId="{0988DA65-FCAA-49FF-96E7-E1DEE5ADBC1D}"/>
    <dgm:cxn modelId="{7B68F48A-7530-453D-902C-E51F24868FA9}" type="presOf" srcId="{1425FACF-06CA-492D-9E9A-FF9BA0625EC3}" destId="{475B0DAB-399D-4229-BD07-25DC9F3D7768}" srcOrd="0" destOrd="9" presId="urn:microsoft.com/office/officeart/2016/7/layout/ChevronBlockProcess"/>
    <dgm:cxn modelId="{1799ED8E-913F-40BE-9530-0BB68C88756C}" srcId="{8ED25028-2783-4581-89BF-2E4AC2C7EBF0}" destId="{45ED4F66-67B9-4E54-9414-DB7008F2C83C}" srcOrd="2" destOrd="0" parTransId="{9CB557A9-4A98-446C-B7D3-93CEAD175AD3}" sibTransId="{74AFAF45-4E37-49C4-85B6-63D55FFB0436}"/>
    <dgm:cxn modelId="{098D529C-D679-479B-BA23-619527FE47BA}" srcId="{B26EFD8B-2DA0-44CC-8926-1FBDF8610193}" destId="{ECB34224-74B8-4CEB-BFC4-919D468CD21D}" srcOrd="2" destOrd="0" parTransId="{9455B760-85F7-43ED-83FF-DD2D52486DFD}" sibTransId="{29AAED88-D8AF-446E-85B3-CC83A6B76474}"/>
    <dgm:cxn modelId="{A2CE6CA1-00B2-4B9D-AA99-781E1E905135}" type="presOf" srcId="{B26EFD8B-2DA0-44CC-8926-1FBDF8610193}" destId="{89171445-3C5E-477D-8E81-05D208D8C246}" srcOrd="0" destOrd="0" presId="urn:microsoft.com/office/officeart/2016/7/layout/ChevronBlockProcess"/>
    <dgm:cxn modelId="{AB1BC1A3-8EF8-44F5-8A66-253BBC1545D3}" type="presOf" srcId="{3479837B-2BD1-45E4-BB87-E4B857AD518B}" destId="{475B0DAB-399D-4229-BD07-25DC9F3D7768}" srcOrd="0" destOrd="4" presId="urn:microsoft.com/office/officeart/2016/7/layout/ChevronBlockProcess"/>
    <dgm:cxn modelId="{874CAFA4-39BD-47F8-A578-952213452B88}" srcId="{FDCF4179-029A-4D17-8136-5BFECC806A63}" destId="{1425FACF-06CA-492D-9E9A-FF9BA0625EC3}" srcOrd="9" destOrd="0" parTransId="{405EAF4D-C9AB-4695-90AC-1C549A1A0C2D}" sibTransId="{0266C187-532A-4F39-BD06-332650F234C8}"/>
    <dgm:cxn modelId="{B0DC06AA-DB7B-4806-A3DB-C7CEF1FFDB70}" type="presOf" srcId="{45C0E353-C28B-43F5-B545-5A57EBEEFDFA}" destId="{475B0DAB-399D-4229-BD07-25DC9F3D7768}" srcOrd="0" destOrd="12" presId="urn:microsoft.com/office/officeart/2016/7/layout/ChevronBlockProcess"/>
    <dgm:cxn modelId="{BC676CB0-2605-4B85-81D5-D4959324F91A}" srcId="{FDCF4179-029A-4D17-8136-5BFECC806A63}" destId="{67738776-9DD6-44FD-A1B8-7A37107E759D}" srcOrd="13" destOrd="0" parTransId="{FFEAD581-044B-4A9F-8D90-61701589DB15}" sibTransId="{873C7E08-28A5-473E-A726-EE85658FF806}"/>
    <dgm:cxn modelId="{316C32B2-95F5-44B9-B994-569194E84A3F}" srcId="{FDCF4179-029A-4D17-8136-5BFECC806A63}" destId="{98270C9F-6F1A-47D8-8F63-95FF57F939D7}" srcOrd="8" destOrd="0" parTransId="{19E92B5D-8DAA-466B-9C73-C7BCD3E2E177}" sibTransId="{9B1F286B-9113-4BDC-8228-BC923AF80DCD}"/>
    <dgm:cxn modelId="{8E3F11B3-F031-4C72-8F6C-9B9E3A66E101}" srcId="{A19A61D1-C125-4298-916B-1210770DEB77}" destId="{B26EFD8B-2DA0-44CC-8926-1FBDF8610193}" srcOrd="0" destOrd="0" parTransId="{6DE1D489-5CBB-4B60-9C7D-CAB1B4792224}" sibTransId="{53F5E2AF-3C5A-42DA-A7F3-4BE0AA0FA931}"/>
    <dgm:cxn modelId="{06BCE8B7-45CE-41B6-97AE-01ED55844723}" srcId="{3CAD933C-2D85-423E-9401-62D6D196569F}" destId="{359A03CD-8982-4638-8010-8606688EEBA9}" srcOrd="0" destOrd="0" parTransId="{5039D8C6-4008-4B37-971C-EC43DC3CCA77}" sibTransId="{E45D9680-7889-4A24-A807-5F27907EAEEA}"/>
    <dgm:cxn modelId="{C8BC3AB8-C250-4C3D-BBC2-80EE4E9D2F16}" type="presOf" srcId="{F5D04FD4-5DD1-4438-86F2-7A171CC5EA25}" destId="{475B0DAB-399D-4229-BD07-25DC9F3D7768}" srcOrd="0" destOrd="1" presId="urn:microsoft.com/office/officeart/2016/7/layout/ChevronBlockProcess"/>
    <dgm:cxn modelId="{03318BC0-8378-4DDD-96E1-3A240889012A}" srcId="{A1E98786-4D37-4B96-B053-79BAA058D4F0}" destId="{209DD226-EBAA-4946-AFAE-525C681D51F2}" srcOrd="0" destOrd="0" parTransId="{5D5E7E5B-E0E0-4189-88AF-703EEEB461E8}" sibTransId="{1C074ABE-D96A-46F5-96EE-0D3C4F9C65C1}"/>
    <dgm:cxn modelId="{E7AAB1C7-C286-42B6-8001-50E093C0C0DA}" type="presOf" srcId="{A533E707-ED97-40BD-BA1E-B54586894BFC}" destId="{475B0DAB-399D-4229-BD07-25DC9F3D7768}" srcOrd="0" destOrd="11" presId="urn:microsoft.com/office/officeart/2016/7/layout/ChevronBlockProcess"/>
    <dgm:cxn modelId="{A14285C9-13FA-43EB-845D-FB01BB7E6866}" srcId="{FDCF4179-029A-4D17-8136-5BFECC806A63}" destId="{9F41D931-5FC8-47E6-8CF1-D66EA4E56B84}" srcOrd="10" destOrd="0" parTransId="{A6732926-ADE6-4880-BD42-BFBC6A52A6C0}" sibTransId="{42104929-9DAB-4D85-A201-DF954490322D}"/>
    <dgm:cxn modelId="{C008B2CA-48D1-4FD2-82FA-CC8B8906187F}" srcId="{8ED25028-2783-4581-89BF-2E4AC2C7EBF0}" destId="{0BBFFE23-4B17-44A2-B9B9-14AF4C40BACE}" srcOrd="1" destOrd="0" parTransId="{4D932428-A988-4B6A-8129-4B29BA75A4BC}" sibTransId="{D9A910B9-C6C5-48B7-AEA0-006059942B08}"/>
    <dgm:cxn modelId="{E1F0FFD1-7022-4BD0-BB72-3D5C55AD59BB}" srcId="{FDCF4179-029A-4D17-8136-5BFECC806A63}" destId="{763831B6-7DE4-43CE-A633-83AD6EB775C1}" srcOrd="5" destOrd="0" parTransId="{E51EB8F7-ECA1-41BA-970A-52C25F95DC58}" sibTransId="{A14ECC9B-B1A8-4AC7-BDC0-6BDC96FA597C}"/>
    <dgm:cxn modelId="{93C5B3D2-6E9D-4D1D-9CA2-6B42AF6340F6}" type="presOf" srcId="{0BBFFE23-4B17-44A2-B9B9-14AF4C40BACE}" destId="{424FD2AE-0225-4B73-80B6-755A5475D9A3}" srcOrd="0" destOrd="3" presId="urn:microsoft.com/office/officeart/2016/7/layout/ChevronBlockProcess"/>
    <dgm:cxn modelId="{273C7CD8-36AB-4685-AC67-0CB8B30BA1DF}" srcId="{3CAD933C-2D85-423E-9401-62D6D196569F}" destId="{FFAAD799-4BEF-413E-A895-22907F2187FC}" srcOrd="1" destOrd="0" parTransId="{27E34320-734F-4074-86A0-F918A5BE4D04}" sibTransId="{9247A8CE-CC6B-4BA2-8E6E-3FB518E3F3CD}"/>
    <dgm:cxn modelId="{A45B38D9-E5B4-4352-BDB2-9371DB1D85E3}" type="presOf" srcId="{A0D74605-7101-4D20-B862-E83AA99970EB}" destId="{424FD2AE-0225-4B73-80B6-755A5475D9A3}" srcOrd="0" destOrd="6" presId="urn:microsoft.com/office/officeart/2016/7/layout/ChevronBlockProcess"/>
    <dgm:cxn modelId="{787504DB-613C-451B-BEB8-ACB2CDC1611A}" srcId="{8ED25028-2783-4581-89BF-2E4AC2C7EBF0}" destId="{E46E2A9A-5BAA-41FE-9E5D-12CFB62D7B57}" srcOrd="0" destOrd="0" parTransId="{BEC50AF3-0C79-47CA-9609-C23D3761D208}" sibTransId="{F1832126-7DB6-4F78-BBEF-F108F4FB363D}"/>
    <dgm:cxn modelId="{DF0C92ED-BB07-4B6F-9C94-813FE011797F}" srcId="{FDCF4179-029A-4D17-8136-5BFECC806A63}" destId="{75710C28-9650-494F-932C-EEB1F6CBECC9}" srcOrd="2" destOrd="0" parTransId="{9DC57A67-B469-4564-8830-38FAB8835DFE}" sibTransId="{1F510EF7-A5AB-4D9B-9AB9-D7A539B390BC}"/>
    <dgm:cxn modelId="{ABC068F0-4E97-44D6-B78F-F95C6885EB92}" type="presOf" srcId="{ECB34224-74B8-4CEB-BFC4-919D468CD21D}" destId="{424FD2AE-0225-4B73-80B6-755A5475D9A3}" srcOrd="0" destOrd="5" presId="urn:microsoft.com/office/officeart/2016/7/layout/ChevronBlockProcess"/>
    <dgm:cxn modelId="{7E2992FC-FEA4-4A14-9CA2-5257BDEAB7D2}" type="presOf" srcId="{98270C9F-6F1A-47D8-8F63-95FF57F939D7}" destId="{475B0DAB-399D-4229-BD07-25DC9F3D7768}" srcOrd="0" destOrd="8" presId="urn:microsoft.com/office/officeart/2016/7/layout/ChevronBlockProcess"/>
    <dgm:cxn modelId="{A3FDD0FD-92A5-46DB-9B2A-36947BBA3CE1}" type="presOf" srcId="{A19A61D1-C125-4298-916B-1210770DEB77}" destId="{012743B7-893E-449A-8F00-AA50E0376E77}" srcOrd="0" destOrd="0" presId="urn:microsoft.com/office/officeart/2016/7/layout/ChevronBlockProcess"/>
    <dgm:cxn modelId="{145E9B66-CB88-417F-8141-81B6893E59E7}" type="presParOf" srcId="{012743B7-893E-449A-8F00-AA50E0376E77}" destId="{29308D8D-1EB4-4DAC-90F5-A6C659064C91}" srcOrd="0" destOrd="0" presId="urn:microsoft.com/office/officeart/2016/7/layout/ChevronBlockProcess"/>
    <dgm:cxn modelId="{C0046C14-E0C1-434C-8549-71FC4AA88633}" type="presParOf" srcId="{29308D8D-1EB4-4DAC-90F5-A6C659064C91}" destId="{89171445-3C5E-477D-8E81-05D208D8C246}" srcOrd="0" destOrd="0" presId="urn:microsoft.com/office/officeart/2016/7/layout/ChevronBlockProcess"/>
    <dgm:cxn modelId="{A653D1C6-B58A-4082-B4FA-C5212AE5B420}" type="presParOf" srcId="{29308D8D-1EB4-4DAC-90F5-A6C659064C91}" destId="{424FD2AE-0225-4B73-80B6-755A5475D9A3}" srcOrd="1" destOrd="0" presId="urn:microsoft.com/office/officeart/2016/7/layout/ChevronBlockProcess"/>
    <dgm:cxn modelId="{44AD9564-EDF7-446B-9A95-E2729F91056A}" type="presParOf" srcId="{012743B7-893E-449A-8F00-AA50E0376E77}" destId="{2E47FB4D-1068-4E53-8320-68AD03FC67E5}" srcOrd="1" destOrd="0" presId="urn:microsoft.com/office/officeart/2016/7/layout/ChevronBlockProcess"/>
    <dgm:cxn modelId="{06D7B433-0FCB-43B7-8827-2C7AEE914365}" type="presParOf" srcId="{012743B7-893E-449A-8F00-AA50E0376E77}" destId="{AD0F5406-E27D-41AC-B09E-F6CC4BCDACA0}" srcOrd="2" destOrd="0" presId="urn:microsoft.com/office/officeart/2016/7/layout/ChevronBlockProcess"/>
    <dgm:cxn modelId="{2842F6B1-8B23-4A2C-91E4-7E00742C2EF4}" type="presParOf" srcId="{AD0F5406-E27D-41AC-B09E-F6CC4BCDACA0}" destId="{53CDAC0E-6DDF-43AA-BA63-48DABF6384ED}" srcOrd="0" destOrd="0" presId="urn:microsoft.com/office/officeart/2016/7/layout/ChevronBlockProcess"/>
    <dgm:cxn modelId="{F633EC4C-C9A1-4CC5-A946-1665F8611B93}" type="presParOf" srcId="{AD0F5406-E27D-41AC-B09E-F6CC4BCDACA0}" destId="{475B0DAB-399D-4229-BD07-25DC9F3D7768}" srcOrd="1" destOrd="0" presId="urn:microsoft.com/office/officeart/2016/7/layout/ChevronBlockProcess"/>
    <dgm:cxn modelId="{64A23117-931A-4420-8768-A8FB8367FCD1}" type="presParOf" srcId="{012743B7-893E-449A-8F00-AA50E0376E77}" destId="{AA780FC7-5849-4FD8-8389-A76A9941DD6F}" srcOrd="3" destOrd="0" presId="urn:microsoft.com/office/officeart/2016/7/layout/ChevronBlockProcess"/>
    <dgm:cxn modelId="{1B729DF5-9D63-4512-B857-79A2425969B8}" type="presParOf" srcId="{012743B7-893E-449A-8F00-AA50E0376E77}" destId="{365C2E4A-5807-4226-ADAB-776412DDE5BE}" srcOrd="4" destOrd="0" presId="urn:microsoft.com/office/officeart/2016/7/layout/ChevronBlockProcess"/>
    <dgm:cxn modelId="{012CDAAE-1FCD-4CF8-A939-FF90E676C4CE}" type="presParOf" srcId="{365C2E4A-5807-4226-ADAB-776412DDE5BE}" destId="{CC1D8F05-A81F-4C15-9279-35DF92B08E81}" srcOrd="0" destOrd="0" presId="urn:microsoft.com/office/officeart/2016/7/layout/ChevronBlockProcess"/>
    <dgm:cxn modelId="{69473F67-F772-47EB-8E93-4D76477A605A}" type="presParOf" srcId="{365C2E4A-5807-4226-ADAB-776412DDE5BE}" destId="{1456C5E4-A067-4717-BD8B-CA430C52EC10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71445-3C5E-477D-8E81-05D208D8C246}">
      <dsp:nvSpPr>
        <dsp:cNvPr id="0" name=""/>
        <dsp:cNvSpPr/>
      </dsp:nvSpPr>
      <dsp:spPr>
        <a:xfrm>
          <a:off x="9383" y="0"/>
          <a:ext cx="3713538" cy="1114061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556" tIns="137556" rIns="137556" bIns="13755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kern="1200"/>
            <a:t>Why need a departmental database?</a:t>
          </a:r>
          <a:endParaRPr lang="en-US" sz="1900" kern="1200"/>
        </a:p>
      </dsp:txBody>
      <dsp:txXfrm>
        <a:off x="343601" y="0"/>
        <a:ext cx="3045102" cy="1114061"/>
      </dsp:txXfrm>
    </dsp:sp>
    <dsp:sp modelId="{424FD2AE-0225-4B73-80B6-755A5475D9A3}">
      <dsp:nvSpPr>
        <dsp:cNvPr id="0" name=""/>
        <dsp:cNvSpPr/>
      </dsp:nvSpPr>
      <dsp:spPr>
        <a:xfrm>
          <a:off x="9383" y="1114061"/>
          <a:ext cx="3379319" cy="39210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041" tIns="267041" rIns="267041" bIns="5340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Data Quality &amp; Storage Challenges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Fragmented Storage</a:t>
          </a:r>
          <a:endParaRPr lang="en-GB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/>
            <a:t>Spreadsheets stored across emails and multiple SharePoint folders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Multiple versions of the same files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b="0" i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Duplicate or Inconsistent Entries</a:t>
          </a:r>
          <a:endParaRPr lang="en-GB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Repeated patient details with discrepancies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100" b="0" i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Non-Standardized Data Input</a:t>
          </a:r>
          <a:endParaRPr lang="en-GB" sz="1100" b="0" i="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Inconsistent formats (e.g. NHS number vs. registration number)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100" b="0" i="0" kern="1200" dirty="0"/>
            <a:t>Some records contain insufficient or missing data</a:t>
          </a:r>
        </a:p>
      </dsp:txBody>
      <dsp:txXfrm>
        <a:off x="9383" y="1114061"/>
        <a:ext cx="3379319" cy="3921035"/>
      </dsp:txXfrm>
    </dsp:sp>
    <dsp:sp modelId="{53CDAC0E-6DDF-43AA-BA63-48DABF6384ED}">
      <dsp:nvSpPr>
        <dsp:cNvPr id="0" name=""/>
        <dsp:cNvSpPr/>
      </dsp:nvSpPr>
      <dsp:spPr>
        <a:xfrm>
          <a:off x="3667730" y="0"/>
          <a:ext cx="3713538" cy="1114061"/>
        </a:xfrm>
        <a:prstGeom prst="chevron">
          <a:avLst>
            <a:gd name="adj" fmla="val 3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556" tIns="137556" rIns="137556" bIns="13755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kern="1200"/>
            <a:t>Requirement</a:t>
          </a:r>
          <a:endParaRPr lang="en-US" sz="1900" kern="1200"/>
        </a:p>
      </dsp:txBody>
      <dsp:txXfrm>
        <a:off x="4001948" y="0"/>
        <a:ext cx="3045102" cy="1114061"/>
      </dsp:txXfrm>
    </dsp:sp>
    <dsp:sp modelId="{475B0DAB-399D-4229-BD07-25DC9F3D7768}">
      <dsp:nvSpPr>
        <dsp:cNvPr id="0" name=""/>
        <dsp:cNvSpPr/>
      </dsp:nvSpPr>
      <dsp:spPr>
        <a:xfrm>
          <a:off x="3667730" y="1114061"/>
          <a:ext cx="3379319" cy="392103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041" tIns="267041" rIns="267041" bIns="5340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Daily Operation Needs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Easy data maintenance by nurses/admin staff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Listing view or printable format to support daily workflows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Reminder/alert system for missed processes or treatments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Search functionality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 dirty="0"/>
            <a:t>Patient-based and listing views (e.g. by financial year)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Management Requirements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Dashboard with high-level figures for meetings and decision-making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Insights and forecasting based on data trends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i="0" kern="1200"/>
            <a:t>Development Considerations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Simple development process (suitable for a sole developer)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Tools to support data cleansing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Flexible setup with no additional installation required for end users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667730" y="1114061"/>
        <a:ext cx="3379319" cy="3921035"/>
      </dsp:txXfrm>
    </dsp:sp>
    <dsp:sp modelId="{CC1D8F05-A81F-4C15-9279-35DF92B08E81}">
      <dsp:nvSpPr>
        <dsp:cNvPr id="0" name=""/>
        <dsp:cNvSpPr/>
      </dsp:nvSpPr>
      <dsp:spPr>
        <a:xfrm>
          <a:off x="7326078" y="0"/>
          <a:ext cx="3713538" cy="1114061"/>
        </a:xfrm>
        <a:prstGeom prst="chevron">
          <a:avLst>
            <a:gd name="adj" fmla="val 3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556" tIns="137556" rIns="137556" bIns="13755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kern="1200"/>
            <a:t>Tools</a:t>
          </a:r>
          <a:endParaRPr lang="en-US" sz="1900" kern="1200"/>
        </a:p>
      </dsp:txBody>
      <dsp:txXfrm>
        <a:off x="7660296" y="0"/>
        <a:ext cx="3045102" cy="1114061"/>
      </dsp:txXfrm>
    </dsp:sp>
    <dsp:sp modelId="{1456C5E4-A067-4717-BD8B-CA430C52EC10}">
      <dsp:nvSpPr>
        <dsp:cNvPr id="0" name=""/>
        <dsp:cNvSpPr/>
      </dsp:nvSpPr>
      <dsp:spPr>
        <a:xfrm>
          <a:off x="7326078" y="1114061"/>
          <a:ext cx="3379319" cy="392103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041" tIns="267041" rIns="267041" bIns="5340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MSAccess</a:t>
          </a:r>
          <a:endParaRPr lang="en-US" sz="1100" kern="1200" dirty="0"/>
        </a:p>
      </dsp:txBody>
      <dsp:txXfrm>
        <a:off x="7326078" y="1114061"/>
        <a:ext cx="3379319" cy="3921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1ACC2AC-D9A2-4CD8-BC14-A39ECE53AFB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C57F21D-5F88-4EE0-906D-03F18A3D8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62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7F21D-5F88-4EE0-906D-03F18A3D836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646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7F21D-5F88-4EE0-906D-03F18A3D836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C70A-A8A2-4290-003F-B5FD4AAC9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27EF0-2C84-8CAE-CEB2-A46336FDF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F5EC6-F37E-690C-76F1-AA30103F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8FCF3-0D8E-A9D2-95DA-3FF7007A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6495-7DFA-DF4D-D1F5-F2A8891F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1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2961-0CE5-E567-6387-B2B6C052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1C7EE-F0B8-29D0-BE26-380811D2D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89C5-91E8-E925-BDA5-D087B4B7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0FED-6E95-4177-A7EF-CD303B9E611D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E338-517A-A9E9-E746-378A04F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2D943-6635-B0DC-1EEC-23FCB8DC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7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87C6-EAF0-5C8D-1A04-70EE471B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0EDBA-F3A9-E6BA-CDF9-655D4C41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6F0F6-CAE2-D631-BD17-B41F253B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D149A-05C1-4496-8F90-E48CC380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43915-9483-91E1-FC0B-AC79E6CA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9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0FFE-BEB9-EF54-0AD2-7C091A18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B4063-9991-4F64-384A-10A61DB0A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8AD7A-F9E8-2514-D044-1FBF2E66C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B4401-372C-E38B-83BA-CF245CAB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February 16,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A66B5-F2B3-19F5-645A-11355DBD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CB79E-B1BF-4EED-C5B3-1C9BD358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30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F7EF-6528-56C5-75C1-F273BB19F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F9FED-346F-213C-441F-62A9BA58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16E26-CDC3-6E88-CC27-EE4AED219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619FD-4EF7-4F1F-4E92-A6B3649C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EA277-3701-FA7A-C122-31FD7F79A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1DC0C-5D84-756A-E961-09DF9E566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EB3E7-1D92-15D9-CAE4-3DD5B6C7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12EE8-D473-8520-91E1-C1D7635D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3F09-8F6E-36D6-D971-6A88AA27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ECCB9-96B3-43F2-8FC5-57C77CB4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DE331-F082-30C2-3A00-9DF8EE7A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B5FE5-4DA9-EC8A-591C-E9508BC6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E6C8E-AC0E-C51B-7625-F9607AA5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98173-B1AD-AA35-48EE-DC56A952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DC9BA-C6F0-7F54-F0D7-F31022EE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C5DC-2A4C-2AD1-2E8F-1495B87E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E945-512B-6C0D-881E-AED707942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C921D-7834-4B4C-1B1E-CF81BD52E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C4FC5-62CB-2314-CED5-E8624AAA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C6FCC-8D69-48C6-BCAE-231CC6E4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BDBFF-ED92-E4FC-36E1-C4F93613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9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1439-C202-D1A0-7F2C-BEFCB8ECE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31E07-FC19-F11E-EBE2-D718C8A7E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0ED12-0B81-8047-F82B-62C755AA2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AF740-49CD-C2C1-A766-D85A087D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6232E-10EC-E731-EA9F-88339F10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D592C-653E-FC6D-905D-FDA31ED6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55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2ECC-2142-9444-E64C-D78FCC30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7DA72-57A1-4956-14C8-4AA8D9DA9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235AC-0627-A4F1-C775-7A22F0E5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A3DAE-9472-89E6-A564-1F1A362E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97253-A7DC-513B-E8CF-1B7BDE9C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2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62A54-07FB-F122-AE7B-433F0D141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D1E95-FAA2-1AB7-AA29-A22930095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6A10E-08FE-CB7C-1BEC-2829A3B2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February 16,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C5596-AD2B-BB2E-2C3A-D50A7909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2FB81-24C2-5019-5B04-0251E1631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9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689-343B-571C-E0E0-29C5EEF8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E236F-9AFE-2A83-F98E-72399B18F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1B87E-D330-D20D-3DA4-37A33676F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960BD-7AC1-4217-9611-AAA56D3EE38F}" type="datetime4">
              <a:rPr lang="en-US" smtClean="0"/>
              <a:pPr/>
              <a:t>February 16,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F7310-06BA-4925-AF3C-D58239EE5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FB848-2A7C-7D86-2DEA-40AE2D02E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818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ldexcelsp.blogspot.com/2006/07/validacin-de-datos-en-excel-agregar.html?m=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nd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1D962-7011-E018-6EC8-21A0045A03C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dirty="0"/>
              <a:t>Birmingham ODN Hepatitis Data</a:t>
            </a:r>
            <a:br>
              <a:rPr lang="en-US" sz="5100" dirty="0"/>
            </a:br>
            <a:endParaRPr lang="en-US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D6E72-44B1-26B7-4124-34270F2AF65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GB" sz="2400" dirty="0"/>
              <a:t>A Walkthrough of Our Custom Local Database</a:t>
            </a:r>
            <a:endParaRPr lang="en-US" sz="240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C0A7A16-B7CA-7475-35BB-9D8BFABD23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A92D1-B7C5-5E33-E815-98F67E80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Data Is Currently Stored</a:t>
            </a:r>
          </a:p>
        </p:txBody>
      </p:sp>
      <p:pic>
        <p:nvPicPr>
          <p:cNvPr id="7" name="Content Placeholder 6" descr="A group of computer applications&#10;&#10;AI-generated content may be incorrect.">
            <a:extLst>
              <a:ext uri="{FF2B5EF4-FFF2-40B4-BE49-F238E27FC236}">
                <a16:creationId xmlns:a16="http://schemas.microsoft.com/office/drawing/2014/main" id="{04AB7876-6552-A235-052D-85C75D8506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2542361"/>
            <a:ext cx="5181600" cy="2917865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2FCD85-6EFD-B22A-51A6-938575EC66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ED, Referral, PCR, and historical datasets (Transplant, Dual Therapy, Clinical Trials) are maintained in separate spreadsheets</a:t>
            </a:r>
          </a:p>
          <a:p>
            <a:endParaRPr lang="en-GB" dirty="0"/>
          </a:p>
          <a:p>
            <a:r>
              <a:rPr lang="en-GB" dirty="0"/>
              <a:t>Arden and GEM capture and manage data nationally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0DDAF-7EE1-4680-B1C7-F2626E65B60C}"/>
              </a:ext>
            </a:extLst>
          </p:cNvPr>
          <p:cNvSpPr txBox="1"/>
          <p:nvPr/>
        </p:nvSpPr>
        <p:spPr>
          <a:xfrm>
            <a:off x="2738437" y="5892006"/>
            <a:ext cx="67151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jldexcelsp.blogspot.com/2006/07/validacin-de-datos-en-excel-agregar.html?m=0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nc-nd/3.0/"/>
              </a:rPr>
              <a:t>CC BY-NC-ND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075805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6E95C82-D345-11A3-E63C-4C1914FC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We Have Clear Visibility of Our Data?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43DF81-6C24-CD06-0887-630E65A029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Do we know how many patients have been cared for, including historical treatments?</a:t>
            </a:r>
          </a:p>
          <a:p>
            <a:endParaRPr lang="en-GB" dirty="0"/>
          </a:p>
          <a:p>
            <a:r>
              <a:rPr lang="en-GB" dirty="0"/>
              <a:t>Can we easily identify a patient’s latest treatment and outcome (at least within our dataset)?</a:t>
            </a:r>
          </a:p>
          <a:p>
            <a:endParaRPr lang="en-GB" dirty="0"/>
          </a:p>
          <a:p>
            <a:r>
              <a:rPr lang="en-GB" dirty="0"/>
              <a:t>Do we know whether any patients have been referred but not yet treated?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FCD659F-786F-F031-A9D3-432DD86E50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Are patient outcomes being properly followed up?</a:t>
            </a:r>
          </a:p>
          <a:p>
            <a:endParaRPr lang="en-GB" dirty="0"/>
          </a:p>
          <a:p>
            <a:r>
              <a:rPr lang="en-GB" dirty="0"/>
              <a:t>Are there patients who may need to be revisited?</a:t>
            </a:r>
          </a:p>
          <a:p>
            <a:endParaRPr lang="en-GB" dirty="0"/>
          </a:p>
          <a:p>
            <a:r>
              <a:rPr lang="en-GB" dirty="0"/>
              <a:t>Do we have sufficient data to support workload planning and resource utilisation?</a:t>
            </a:r>
          </a:p>
          <a:p>
            <a:pPr lvl="1"/>
            <a:r>
              <a:rPr lang="en-GB" dirty="0"/>
              <a:t>Multiple referrals</a:t>
            </a:r>
          </a:p>
          <a:p>
            <a:pPr lvl="1"/>
            <a:r>
              <a:rPr lang="en-GB" dirty="0"/>
              <a:t>Retreatment</a:t>
            </a:r>
          </a:p>
          <a:p>
            <a:pPr lvl="1"/>
            <a:r>
              <a:rPr lang="en-GB" dirty="0"/>
              <a:t>Resupply</a:t>
            </a:r>
          </a:p>
          <a:p>
            <a:endParaRPr lang="en-GB" dirty="0"/>
          </a:p>
          <a:p>
            <a:r>
              <a:rPr lang="en-GB" dirty="0"/>
              <a:t>How easily can we produce high-level figures and insights for meetings and decision-making?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8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DE4B-9FBF-C81F-0ECE-A3E830F0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Have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2F8-6750-9300-BA4F-27EAC4E8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Developed an instant dashboard to capture and visualise data from existing spreadsheets</a:t>
            </a:r>
          </a:p>
          <a:p>
            <a:endParaRPr lang="en-GB" dirty="0"/>
          </a:p>
          <a:p>
            <a:r>
              <a:rPr lang="en-GB" dirty="0"/>
              <a:t>Made it easier to produce figures for meetings and reporting, with minimal additional work from source data</a:t>
            </a:r>
          </a:p>
          <a:p>
            <a:endParaRPr lang="en-GB" dirty="0"/>
          </a:p>
          <a:p>
            <a:r>
              <a:rPr lang="en-GB" dirty="0"/>
              <a:t>Introduced a new system (ED Testing) to record the data we need in a more standardised format.  Enabled more comprehensive and consistent analysis</a:t>
            </a:r>
          </a:p>
        </p:txBody>
      </p:sp>
    </p:spTree>
    <p:extLst>
      <p:ext uri="{BB962C8B-B14F-4D97-AF65-F5344CB8AC3E}">
        <p14:creationId xmlns:p14="http://schemas.microsoft.com/office/powerpoint/2010/main" val="250794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EE285D5-8110-4AE6-AF36-F83E457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A69D0-59C1-FAF5-0CFD-F12A85D2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28" y="464408"/>
            <a:ext cx="4399872" cy="1642533"/>
          </a:xfrm>
        </p:spPr>
        <p:txBody>
          <a:bodyPr anchor="b">
            <a:normAutofit/>
          </a:bodyPr>
          <a:lstStyle/>
          <a:p>
            <a:r>
              <a:rPr lang="en-GB" sz="5400" dirty="0" err="1"/>
              <a:t>EDTest</a:t>
            </a:r>
            <a:r>
              <a:rPr lang="en-GB" sz="5400" dirty="0"/>
              <a:t> project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57800"/>
            <a:ext cx="3877056" cy="18288"/>
          </a:xfrm>
          <a:custGeom>
            <a:avLst/>
            <a:gdLst>
              <a:gd name="csX0" fmla="*/ 0 w 3877056"/>
              <a:gd name="csY0" fmla="*/ 0 h 18288"/>
              <a:gd name="csX1" fmla="*/ 723717 w 3877056"/>
              <a:gd name="csY1" fmla="*/ 0 h 18288"/>
              <a:gd name="csX2" fmla="*/ 1447434 w 3877056"/>
              <a:gd name="csY2" fmla="*/ 0 h 18288"/>
              <a:gd name="csX3" fmla="*/ 1977299 w 3877056"/>
              <a:gd name="csY3" fmla="*/ 0 h 18288"/>
              <a:gd name="csX4" fmla="*/ 2623475 w 3877056"/>
              <a:gd name="csY4" fmla="*/ 0 h 18288"/>
              <a:gd name="csX5" fmla="*/ 3192109 w 3877056"/>
              <a:gd name="csY5" fmla="*/ 0 h 18288"/>
              <a:gd name="csX6" fmla="*/ 3877056 w 3877056"/>
              <a:gd name="csY6" fmla="*/ 0 h 18288"/>
              <a:gd name="csX7" fmla="*/ 3877056 w 3877056"/>
              <a:gd name="csY7" fmla="*/ 18288 h 18288"/>
              <a:gd name="csX8" fmla="*/ 3230880 w 3877056"/>
              <a:gd name="csY8" fmla="*/ 18288 h 18288"/>
              <a:gd name="csX9" fmla="*/ 2662245 w 3877056"/>
              <a:gd name="csY9" fmla="*/ 18288 h 18288"/>
              <a:gd name="csX10" fmla="*/ 2016069 w 3877056"/>
              <a:gd name="csY10" fmla="*/ 18288 h 18288"/>
              <a:gd name="csX11" fmla="*/ 1408664 w 3877056"/>
              <a:gd name="csY11" fmla="*/ 18288 h 18288"/>
              <a:gd name="csX12" fmla="*/ 840029 w 3877056"/>
              <a:gd name="csY12" fmla="*/ 18288 h 18288"/>
              <a:gd name="csX13" fmla="*/ 0 w 3877056"/>
              <a:gd name="csY13" fmla="*/ 18288 h 18288"/>
              <a:gd name="csX14" fmla="*/ 0 w 3877056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CF0BB1-2876-BC20-DAAF-2F7C4EFB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33" y="209100"/>
            <a:ext cx="4715533" cy="643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A57932-C32F-F366-2DDF-09CEF11F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8" y="2106941"/>
            <a:ext cx="5600594" cy="41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8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AB48-07D8-81CE-A885-4DFFAF17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0892" y="741391"/>
            <a:ext cx="3269384" cy="1616203"/>
          </a:xfrm>
        </p:spPr>
        <p:txBody>
          <a:bodyPr anchor="b">
            <a:normAutofit/>
          </a:bodyPr>
          <a:lstStyle/>
          <a:p>
            <a:r>
              <a:rPr lang="en-GB" sz="3200" dirty="0"/>
              <a:t>Centralized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0CA374-01DD-E2B6-A932-4B428BBF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732"/>
          <a:stretch>
            <a:fillRect/>
          </a:stretch>
        </p:blipFill>
        <p:spPr>
          <a:xfrm>
            <a:off x="874088" y="877413"/>
            <a:ext cx="3580346" cy="4953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29D1FD-8519-B0EC-8B55-DEFA27146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70" r="25142" b="1"/>
          <a:stretch>
            <a:fillRect/>
          </a:stretch>
        </p:blipFill>
        <p:spPr>
          <a:xfrm>
            <a:off x="4530256" y="877417"/>
            <a:ext cx="3083744" cy="2435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7DD27-9E47-17A0-F653-99A9F3DF9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29" r="10157" b="3"/>
          <a:stretch>
            <a:fillRect/>
          </a:stretch>
        </p:blipFill>
        <p:spPr>
          <a:xfrm>
            <a:off x="4530256" y="3395325"/>
            <a:ext cx="3083744" cy="24379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A4E4-36C4-5E23-8C9C-37579C78C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890" y="2533476"/>
            <a:ext cx="3240264" cy="3447832"/>
          </a:xfrm>
        </p:spPr>
        <p:txBody>
          <a:bodyPr anchor="t">
            <a:normAutofit fontScale="70000" lnSpcReduction="20000"/>
          </a:bodyPr>
          <a:lstStyle/>
          <a:p>
            <a:r>
              <a:rPr lang="en-GB" sz="2200" dirty="0"/>
              <a:t>Dashboards are built on different sources while keep existing input mechanism unchanged</a:t>
            </a:r>
          </a:p>
          <a:p>
            <a:pPr marL="0" indent="0">
              <a:buNone/>
            </a:pPr>
            <a:endParaRPr lang="en-GB" sz="2200" dirty="0"/>
          </a:p>
          <a:p>
            <a:r>
              <a:rPr lang="en-GB" sz="2200" dirty="0"/>
              <a:t>Consolidated those data from corporate e.g. Arden and Gem and </a:t>
            </a:r>
            <a:r>
              <a:rPr lang="en-GB" sz="2200" dirty="0" err="1"/>
              <a:t>Blueteq</a:t>
            </a:r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Group together all the data view a more centralized views in our dashboards.</a:t>
            </a:r>
          </a:p>
          <a:p>
            <a:endParaRPr lang="en-GB" sz="2200" dirty="0"/>
          </a:p>
          <a:p>
            <a:r>
              <a:rPr lang="en-GB" sz="2200" dirty="0"/>
              <a:t>Can achieve data comparison and cross checking</a:t>
            </a:r>
          </a:p>
          <a:p>
            <a:endParaRPr lang="en-GB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3D8A0C-28ED-C6DD-9FF8-421807F5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D324DB-B381-AF6B-572F-20D07D968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A2E0BF-C3DA-A022-0CF8-0231FC997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73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7BAD0B-984B-C0EF-2F28-774D2EB1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4100"/>
              <a:t>What’s Next?</a:t>
            </a:r>
            <a:br>
              <a:rPr lang="en-US" sz="4100"/>
            </a:br>
            <a:br>
              <a:rPr lang="en-US" sz="4100"/>
            </a:br>
            <a:endParaRPr lang="en-US" sz="41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F7872D9-6195-CAFE-5480-B6E682CFA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tailored local database for the department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Centralized storage of all relevant data under one roof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Improved accessibility, consistency, and analysis</a:t>
            </a:r>
          </a:p>
        </p:txBody>
      </p:sp>
      <p:pic>
        <p:nvPicPr>
          <p:cNvPr id="24" name="Picture 23" descr="White arrows painted on the asphalt">
            <a:extLst>
              <a:ext uri="{FF2B5EF4-FFF2-40B4-BE49-F238E27FC236}">
                <a16:creationId xmlns:a16="http://schemas.microsoft.com/office/drawing/2014/main" id="{B5369AEE-AE27-CFC9-57CE-B58A79BC2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66" r="2153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558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4BFC4-6690-D10C-4677-C25738FAC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700" dirty="0"/>
              <a:t>Patient Panel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B66DE-3A19-5467-8F9A-B100B4E55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8" y="2118001"/>
            <a:ext cx="4921807" cy="4226146"/>
          </a:xfrm>
        </p:spPr>
        <p:txBody>
          <a:bodyPr anchor="ctr">
            <a:normAutofit fontScale="92500" lnSpcReduction="10000"/>
          </a:bodyPr>
          <a:lstStyle/>
          <a:p>
            <a:pPr lvl="1"/>
            <a:endParaRPr lang="en-GB" sz="2200" dirty="0"/>
          </a:p>
          <a:p>
            <a:pPr lvl="1"/>
            <a:endParaRPr lang="en-GB" sz="1600" dirty="0"/>
          </a:p>
          <a:p>
            <a:r>
              <a:rPr lang="en-GB" sz="1600" dirty="0"/>
              <a:t>A centralized panel to view all records for a patient.</a:t>
            </a:r>
          </a:p>
          <a:p>
            <a:endParaRPr lang="en-GB" sz="1800" dirty="0"/>
          </a:p>
          <a:p>
            <a:r>
              <a:rPr lang="en-GB" sz="1600" b="1" dirty="0"/>
              <a:t>Patient Search Bar:</a:t>
            </a:r>
            <a:r>
              <a:rPr lang="en-GB" sz="1600" dirty="0"/>
              <a:t> Search patients by Name, Date of Birth (DOB), Hospital Number, or NHS Number.</a:t>
            </a:r>
          </a:p>
          <a:p>
            <a:endParaRPr lang="en-GB" sz="1600" dirty="0"/>
          </a:p>
          <a:p>
            <a:r>
              <a:rPr lang="en-GB" sz="1600" dirty="0"/>
              <a:t>Displays </a:t>
            </a:r>
            <a:r>
              <a:rPr lang="en-GB" sz="1600" b="1" dirty="0"/>
              <a:t>latest treatment date</a:t>
            </a:r>
            <a:r>
              <a:rPr lang="en-GB" sz="1600" dirty="0"/>
              <a:t> and </a:t>
            </a:r>
            <a:r>
              <a:rPr lang="en-GB" sz="1600" b="1" dirty="0"/>
              <a:t>treatment outcome</a:t>
            </a:r>
            <a:r>
              <a:rPr lang="en-GB" sz="1600" dirty="0"/>
              <a:t> (based on your own data).</a:t>
            </a:r>
          </a:p>
          <a:p>
            <a:endParaRPr lang="en-GB" sz="1600" dirty="0"/>
          </a:p>
          <a:p>
            <a:r>
              <a:rPr lang="en-GB" sz="1600" dirty="0"/>
              <a:t>Shows </a:t>
            </a:r>
            <a:r>
              <a:rPr lang="en-GB" sz="1600" b="1" dirty="0"/>
              <a:t>source of data</a:t>
            </a:r>
            <a:r>
              <a:rPr lang="en-GB" sz="1600" dirty="0"/>
              <a:t>: Outreach referrals, ED, PCR, Arden, and Gem.</a:t>
            </a:r>
          </a:p>
          <a:p>
            <a:endParaRPr lang="en-GB" sz="1600" dirty="0"/>
          </a:p>
          <a:p>
            <a:r>
              <a:rPr lang="en-GB" sz="1600" dirty="0"/>
              <a:t>Includes </a:t>
            </a:r>
            <a:r>
              <a:rPr lang="en-GB" sz="1600" b="1" dirty="0"/>
              <a:t>Patient Tag</a:t>
            </a:r>
            <a:r>
              <a:rPr lang="en-GB" sz="1600" dirty="0"/>
              <a:t> indicating current status: Cured, Lost, Under Treatment (no outcome yet), or Lost.</a:t>
            </a:r>
          </a:p>
          <a:p>
            <a:endParaRPr lang="en-GB" sz="1600" dirty="0"/>
          </a:p>
          <a:p>
            <a:endParaRPr lang="en-GB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DFB82-1B89-1722-72CB-14C6A12B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314" y="1984248"/>
            <a:ext cx="5994862" cy="4359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C3CC5-1FDE-12BA-2FCF-932B77380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799" y="1095827"/>
            <a:ext cx="8448377" cy="51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4EA43-42B1-CFA6-3ECA-5E32808C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3B2E4-4D61-F7F0-8ED7-9C38D2B7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Patient Details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FF7E-5E13-0D3E-5C2A-DB8E5F35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913"/>
            <a:ext cx="4938504" cy="3787745"/>
          </a:xfrm>
        </p:spPr>
        <p:txBody>
          <a:bodyPr anchor="ctr">
            <a:normAutofit fontScale="32500" lnSpcReduction="20000"/>
          </a:bodyPr>
          <a:lstStyle/>
          <a:p>
            <a:endParaRPr lang="en-GB" sz="3200" dirty="0"/>
          </a:p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Access: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Double-click any patient to open their full record. This form consolidates all key information for the individual in one place.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Demographics: 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NHS Number, Date of Birth (DOB), and Hospital Number are clearly displayed and editable.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patient demographics across our system reduce duplicate entry errors and make maintenance easier.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Tabbed Views:</a:t>
            </a:r>
            <a:r>
              <a:rPr lang="zh-TW" alt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Quickly switch between different data types, such as Referral Details, Treatment Details, and ED Referrals, all within a single window.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one-stop view for efficient patient checks.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Tags : 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the patient’s latest status, automatically generated by the system based on the most recent treatment record.</a:t>
            </a:r>
          </a:p>
          <a:p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Sources: </a:t>
            </a: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Clearly indicates the origin of the data for each record.</a:t>
            </a:r>
          </a:p>
          <a:p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9B0332-4E82-75A5-9FE5-99AAD7553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" r="834"/>
          <a:stretch/>
        </p:blipFill>
        <p:spPr>
          <a:xfrm>
            <a:off x="5573111" y="1283170"/>
            <a:ext cx="6042645" cy="4357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3588F-41F6-3FBE-DFE6-AAF76208E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5" y="6004740"/>
            <a:ext cx="2724530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69FF5-1AF0-F783-7038-B5D99CE6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C5E18CE-DFDA-CF31-9F40-4C0B5A73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3E06B-49D0-1239-40F5-7635600A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Autofit/>
          </a:bodyPr>
          <a:lstStyle/>
          <a:p>
            <a:r>
              <a:rPr lang="en-GB" sz="2400" dirty="0"/>
              <a:t>Patient Details – Background </a:t>
            </a:r>
            <a:r>
              <a:rPr lang="en-GB" sz="2400" dirty="0" err="1"/>
              <a:t>Color</a:t>
            </a:r>
            <a:r>
              <a:rPr lang="en-GB" sz="2400" dirty="0"/>
              <a:t> Highlight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84005C8-624B-DB24-3284-A1842016D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7112-BF51-F794-A745-9EE9A2A9E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92981"/>
            <a:ext cx="4141619" cy="3450063"/>
          </a:xfrm>
        </p:spPr>
        <p:txBody>
          <a:bodyPr anchor="ctr">
            <a:normAutofit/>
          </a:bodyPr>
          <a:lstStyle/>
          <a:p>
            <a:endParaRPr lang="en-GB" sz="1800" dirty="0"/>
          </a:p>
          <a:p>
            <a:r>
              <a:rPr lang="en-GB" sz="1800" dirty="0"/>
              <a:t>Patient demographic backgrounds are color-coded for easier identification.</a:t>
            </a:r>
          </a:p>
          <a:p>
            <a:endParaRPr lang="en-GB" sz="1800" dirty="0"/>
          </a:p>
          <a:p>
            <a:r>
              <a:rPr lang="en-GB" sz="1800" dirty="0"/>
              <a:t>Special </a:t>
            </a:r>
            <a:r>
              <a:rPr lang="en-GB" sz="1800" dirty="0" err="1"/>
              <a:t>color</a:t>
            </a:r>
            <a:r>
              <a:rPr lang="en-GB" sz="1800" dirty="0"/>
              <a:t> highlights patients who have sadly passed away or require follow-up, making alerts and actions more visible.</a:t>
            </a:r>
          </a:p>
          <a:p>
            <a:pPr marL="457200" lvl="1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3558B83-0FBA-0529-515F-D7A43BD4B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29FCB8-C059-2274-331D-28EF3A59A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72E9FA6-8CF3-D49B-0659-C398DB049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5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9C446-83B4-8210-02EA-87226EB5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70894-D61C-7310-CF58-9417374AA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Outreach Referrals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8841-A1B9-E3DC-4520-48EF078AE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568271"/>
            <a:ext cx="4189327" cy="2974773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1800" dirty="0"/>
              <a:t>Integrates existing outreach spreadsheets into the system</a:t>
            </a:r>
          </a:p>
          <a:p>
            <a:endParaRPr lang="en-GB" sz="1800" dirty="0"/>
          </a:p>
          <a:p>
            <a:r>
              <a:rPr lang="en-GB" sz="1800" b="1" dirty="0"/>
              <a:t>Key fields:</a:t>
            </a:r>
            <a:r>
              <a:rPr lang="en-GB" sz="1800" dirty="0"/>
              <a:t> Referral Date and Source of Referral, enabling analysis such as yearly referral counts and referral origins.</a:t>
            </a:r>
          </a:p>
          <a:p>
            <a:endParaRPr lang="en-GB" sz="1800" dirty="0"/>
          </a:p>
          <a:p>
            <a:r>
              <a:rPr lang="en-GB" sz="1800" dirty="0"/>
              <a:t>Improves tracking of patients who were referred but not treated (details and reporting explained in a later slide).</a:t>
            </a:r>
          </a:p>
          <a:p>
            <a:pPr marL="457200" lvl="1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4A096-8753-6D98-64CF-D6B9294C0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4371" y="1785966"/>
            <a:ext cx="5534752" cy="305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2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17F0F-0CA8-50EE-7B1A-C3A27C86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03F00A49-729B-3748-6E42-CA1EEEB4A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5C40C-06CB-09D5-5987-2AC70F9EA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/>
              <a:t>ED Referral</a:t>
            </a:r>
            <a:endParaRPr lang="en-GB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190C974-D1E4-9BAA-1236-CC279AFF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8DE7-27F0-8247-47D8-F3793860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568271"/>
            <a:ext cx="4189327" cy="2974773"/>
          </a:xfrm>
        </p:spPr>
        <p:txBody>
          <a:bodyPr anchor="ctr">
            <a:normAutofit fontScale="92500"/>
          </a:bodyPr>
          <a:lstStyle/>
          <a:p>
            <a:r>
              <a:rPr lang="en-GB" sz="1800" dirty="0"/>
              <a:t>Migrates existing ED testing functionality into the system, eliminating the need to switch between platforms.</a:t>
            </a:r>
          </a:p>
          <a:p>
            <a:endParaRPr lang="en-GB" sz="1800" dirty="0"/>
          </a:p>
          <a:p>
            <a:r>
              <a:rPr lang="en-GB" sz="1800" dirty="0"/>
              <a:t>Provides a </a:t>
            </a:r>
            <a:r>
              <a:rPr lang="en-GB" sz="1800" b="1" dirty="0"/>
              <a:t>single, unified view</a:t>
            </a:r>
            <a:r>
              <a:rPr lang="en-GB" sz="1800" dirty="0"/>
              <a:t> of the patient.</a:t>
            </a:r>
          </a:p>
          <a:p>
            <a:endParaRPr lang="en-GB" sz="1800" dirty="0"/>
          </a:p>
          <a:p>
            <a:r>
              <a:rPr lang="en-GB" sz="1800" dirty="0"/>
              <a:t>Includes a </a:t>
            </a:r>
            <a:r>
              <a:rPr lang="en-GB" sz="1800" b="1" dirty="0"/>
              <a:t>linking function</a:t>
            </a:r>
            <a:r>
              <a:rPr lang="en-GB" sz="1800" dirty="0"/>
              <a:t> to connect existing treatments, reducing duplicate data entry.</a:t>
            </a:r>
          </a:p>
          <a:p>
            <a:endParaRPr lang="en-GB" sz="18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E20DCA-9DB9-8F76-D06A-234132293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90BD5C5-EFB8-B51D-4B5F-3893B702A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D6A210D-ECE8-9D2E-E2ED-A8DAE0277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913718-A396-FB2A-1696-75882E44A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946" y="372857"/>
            <a:ext cx="6553820" cy="317154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93B7BD-D3B3-E8B3-A333-88E21BA53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7993" y="2258169"/>
            <a:ext cx="5760020" cy="392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92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FCF6E-8A43-6570-8FA5-11FDC1D5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BBC5EE4A-469E-91BD-3887-080ED97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FDF6D-B4FD-098B-43B7-296201B5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/>
              <a:t>Treatment records</a:t>
            </a:r>
            <a:endParaRPr lang="en-GB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62EDFCF-128C-B44F-E621-530226BBC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5151D-568F-87BF-C1CD-E6FF39569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568271"/>
            <a:ext cx="4189327" cy="2974773"/>
          </a:xfrm>
        </p:spPr>
        <p:txBody>
          <a:bodyPr anchor="ctr">
            <a:normAutofit/>
          </a:bodyPr>
          <a:lstStyle/>
          <a:p>
            <a:r>
              <a:rPr lang="en-GB" sz="1800" dirty="0"/>
              <a:t>Migration of existing PCR spreadsheet</a:t>
            </a:r>
          </a:p>
          <a:p>
            <a:endParaRPr lang="en-GB" sz="1800" dirty="0"/>
          </a:p>
          <a:p>
            <a:r>
              <a:rPr lang="en-GB" sz="1800" dirty="0"/>
              <a:t>Maintains a local set of patient treatment records.</a:t>
            </a:r>
          </a:p>
          <a:p>
            <a:endParaRPr lang="en-GB" sz="1800" dirty="0"/>
          </a:p>
          <a:p>
            <a:r>
              <a:rPr lang="en-GB" sz="1800" dirty="0"/>
              <a:t>Allows local remarks to be added for each patient’s treatment.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9324ABD-B9D3-7DC8-C614-0A4FED441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6E790AB-5771-2045-2139-68DE8E63F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AB79764-48E1-B414-2C71-C07A3BB59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E12212-9755-1F1E-4BC1-AB8A6510A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477" y="412816"/>
            <a:ext cx="7015938" cy="349300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57BC56-B01B-D3A5-4BC7-8B47BB5ED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223" y="3236993"/>
            <a:ext cx="5710857" cy="279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8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00AF4-98FB-4B4C-6BF3-13A7D87A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F2003-CE4A-D859-67DC-75085B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6351834" cy="1893524"/>
          </a:xfrm>
        </p:spPr>
        <p:txBody>
          <a:bodyPr anchor="b">
            <a:normAutofit/>
          </a:bodyPr>
          <a:lstStyle/>
          <a:p>
            <a:r>
              <a:rPr lang="en-GB" sz="4800" dirty="0"/>
              <a:t>Historical data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9CA2CA-BE48-C0CF-9CE7-0858C099B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" b="4"/>
          <a:stretch>
            <a:fillRect/>
          </a:stretch>
        </p:blipFill>
        <p:spPr>
          <a:xfrm>
            <a:off x="7957158" y="335317"/>
            <a:ext cx="3492757" cy="17357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5018-67A8-D717-F033-47DF3E00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2965593"/>
            <a:ext cx="6351834" cy="2941544"/>
          </a:xfrm>
        </p:spPr>
        <p:txBody>
          <a:bodyPr>
            <a:normAutofit/>
          </a:bodyPr>
          <a:lstStyle/>
          <a:p>
            <a:r>
              <a:rPr lang="en-GB" sz="1800" dirty="0"/>
              <a:t>Integrates historical records, such as Clinical Trials, Dual Therapy, and Transplant patients, which may not exist in Arden or Gem.</a:t>
            </a:r>
          </a:p>
          <a:p>
            <a:endParaRPr lang="en-GB" sz="1800" dirty="0"/>
          </a:p>
          <a:p>
            <a:r>
              <a:rPr lang="en-GB" sz="1800" dirty="0"/>
              <a:t>Consolidates all data into the local database for a unified view of the patient.</a:t>
            </a:r>
          </a:p>
          <a:p>
            <a:endParaRPr lang="en-GB" sz="1800" dirty="0"/>
          </a:p>
          <a:p>
            <a:endParaRPr lang="en-GB" sz="18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DCF4B3-7819-F4AC-9A86-20424A46C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0"/>
          <a:stretch>
            <a:fillRect/>
          </a:stretch>
        </p:blipFill>
        <p:spPr>
          <a:xfrm>
            <a:off x="7957158" y="2561123"/>
            <a:ext cx="3492757" cy="173575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602F21-108D-15BA-11FA-EBA5966558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4" b="-2"/>
          <a:stretch>
            <a:fillRect/>
          </a:stretch>
        </p:blipFill>
        <p:spPr>
          <a:xfrm>
            <a:off x="7957158" y="4778580"/>
            <a:ext cx="3492757" cy="173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5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01F5B-22EB-1E52-148E-C848B122E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C6B81BD-591E-3F35-1C46-F8B87493B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9C652-FF52-345A-4502-71D4E876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Arden and Gem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A47A48-5087-7FD4-4113-C28D06F75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9C58-E555-E7A5-346A-EB02C157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69" y="3299081"/>
            <a:ext cx="3802711" cy="2243963"/>
          </a:xfrm>
        </p:spPr>
        <p:txBody>
          <a:bodyPr anchor="ctr">
            <a:normAutofit lnSpcReduction="10000"/>
          </a:bodyPr>
          <a:lstStyle/>
          <a:p>
            <a:r>
              <a:rPr lang="en-GB" sz="1800" dirty="0"/>
              <a:t>Enhances integration with nationalized data from Arden and Gem.</a:t>
            </a:r>
          </a:p>
          <a:p>
            <a:endParaRPr lang="en-GB" sz="1800" dirty="0"/>
          </a:p>
          <a:p>
            <a:r>
              <a:rPr lang="en-GB" sz="1800" dirty="0"/>
              <a:t>Allows download of exported treatment data from Arden and Gem for a unified patient view within the system.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B69AE5-C16E-7AC8-C91D-C780D9BAE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8C6521B-C7EC-1492-199D-7317A6C5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EF599D-D61B-D6AF-C9D4-E43CAB983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8FDEAA-9FAC-E47C-7857-96F0F9604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74" y="4461823"/>
            <a:ext cx="3219899" cy="35247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A60504-F349-1117-ACCB-C2674747D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121" y="699190"/>
            <a:ext cx="7180645" cy="316778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498C8A-30EE-6921-8FDD-A0BE225AE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835" y="3244217"/>
            <a:ext cx="6273812" cy="30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3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DF9CD-8BB0-05A7-F64D-BAE5E230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30AA8A8-C3AD-BBD4-ECDA-D54EE7885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204CD-7C20-3ABF-4577-9C30B2D8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Patient Follow up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884F77-8FD5-FF83-46A3-2CA5C39B9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3C1CF-7BD3-D44D-B1FB-EE780510D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1800" dirty="0"/>
              <a:t>Provides a single-page overview of patients flagged for follow-up based on their Patient Tag.</a:t>
            </a:r>
          </a:p>
          <a:p>
            <a:endParaRPr lang="en-GB" sz="1800" dirty="0"/>
          </a:p>
          <a:p>
            <a:r>
              <a:rPr lang="en-GB" sz="1800" dirty="0"/>
              <a:t>Patients marked for follow-up are highlighted in the Patient Panel and flagged in the patient list for easy tracking.</a:t>
            </a:r>
          </a:p>
          <a:p>
            <a:endParaRPr lang="en-GB" sz="1800" dirty="0"/>
          </a:p>
          <a:p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CC4505-F674-724B-7337-6D0FEF1D0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2D2617-09D0-7A17-1954-A9546F0DA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1FB8D2C-4983-E479-D349-922ED6C2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DC3B5F-9C4E-36F4-632A-FE0EA319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153" y="307412"/>
            <a:ext cx="8767613" cy="599945"/>
          </a:xfrm>
          <a:prstGeom prst="rect">
            <a:avLst/>
          </a:prstGeom>
        </p:spPr>
      </p:pic>
      <p:pic>
        <p:nvPicPr>
          <p:cNvPr id="4" name="Google Shape;246;p22">
            <a:extLst>
              <a:ext uri="{FF2B5EF4-FFF2-40B4-BE49-F238E27FC236}">
                <a16:creationId xmlns:a16="http://schemas.microsoft.com/office/drawing/2014/main" id="{1823EB1E-511F-ABA1-2261-068FB329039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679817" y="1618488"/>
            <a:ext cx="6035931" cy="4526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2142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967C4-7023-C12C-7226-81E6035D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5F2C1950-A2FB-B4C4-44EA-69B03C676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7C015-7C02-B118-5709-4C093AA7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/>
              <a:t>Reports</a:t>
            </a:r>
            <a:endParaRPr lang="en-GB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B2F462-7146-6831-F5DF-55E1F97DA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6D502-D061-0139-3D27-F9CF0B057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1800" dirty="0"/>
              <a:t>Provides customized reports tailored to our needs.</a:t>
            </a:r>
          </a:p>
          <a:p>
            <a:endParaRPr lang="en-GB" sz="1800" dirty="0"/>
          </a:p>
          <a:p>
            <a:r>
              <a:rPr lang="en-GB" sz="1800" dirty="0"/>
              <a:t>Offers an easy, at-a-glance view of selected data.</a:t>
            </a:r>
          </a:p>
          <a:p>
            <a:endParaRPr lang="en-GB" sz="1800" dirty="0"/>
          </a:p>
          <a:p>
            <a:r>
              <a:rPr lang="en-GB" sz="1800" dirty="0"/>
              <a:t>Reports can be printed or exported as PDFs, allowing review without needing system access.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8D76F8B-3AA1-7C51-42B8-D8C79417D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5CD36F9-5F6E-077A-89BE-1FE8E59E0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13CE6C-D657-F49C-BD3A-C0C1B62B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FEA05F-5F1F-D6BC-2A23-CECC90FE9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426" y="238880"/>
            <a:ext cx="6096000" cy="2974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0240D-91D7-4D06-CF58-5B204C5F7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56" y="831023"/>
            <a:ext cx="4276835" cy="547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78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0D58F-0172-E872-A88A-E2BF9290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5657127-94CC-772C-1D85-A8897CA6C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04E19-C408-3D6B-5FF1-96ED84AD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Centralized Dashboards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C9435CF-897F-C471-F31C-FE8D8E078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520A-297A-7CEE-92E0-1B2A6E06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GB" sz="1800" dirty="0"/>
              <a:t>Provides dashboards in Excel format, ensuring access even when the system is unavailable (e.g., during meetings or WFH).</a:t>
            </a:r>
          </a:p>
          <a:p>
            <a:endParaRPr lang="en-GB" sz="1800" dirty="0"/>
          </a:p>
          <a:p>
            <a:r>
              <a:rPr lang="en-GB" sz="1800" dirty="0"/>
              <a:t>Displays high-level figures to support meetings, discussions, and decision-making.</a:t>
            </a:r>
          </a:p>
          <a:p>
            <a:endParaRPr lang="en-GB" sz="18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F1C445-0850-623C-B061-70276F35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3AB054B-D7A9-F2AA-EA4B-3B4974C8D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10EC61-45D1-02CA-059E-A53FAB1DB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3B4C14-08FC-8D00-7151-681C6F57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99" r="24512" b="1"/>
          <a:stretch>
            <a:fillRect/>
          </a:stretch>
        </p:blipFill>
        <p:spPr>
          <a:xfrm>
            <a:off x="6095999" y="525982"/>
            <a:ext cx="5628018" cy="532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6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01B0-0DA4-F23F-E9AF-41191D57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Autofit/>
          </a:bodyPr>
          <a:lstStyle/>
          <a:p>
            <a:r>
              <a:rPr lang="en-GB" sz="4000" dirty="0"/>
              <a:t>Proposed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0D7A-4219-CEEE-A923-B4DA57BF6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dirty="0"/>
              <a:t>Patient</a:t>
            </a:r>
          </a:p>
          <a:p>
            <a:r>
              <a:rPr lang="en-GB" sz="2200" dirty="0"/>
              <a:t>Referral</a:t>
            </a:r>
          </a:p>
          <a:p>
            <a:r>
              <a:rPr lang="en-GB" sz="2200" dirty="0"/>
              <a:t>Treatment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AA9E6-56D9-BB22-8E5D-18722E41D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55846"/>
            <a:ext cx="6903720" cy="474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07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49E2-EA97-25A5-3B7C-4E9B5EA1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Database – existing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DB505-0DBF-5990-8998-C492DC6D8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600" dirty="0"/>
              <a:t>Referral Database (Outreach spreadsheet)</a:t>
            </a:r>
          </a:p>
          <a:p>
            <a:r>
              <a:rPr lang="en-GB" sz="2600" dirty="0"/>
              <a:t>PCR Database (EAP spreadsheet)</a:t>
            </a:r>
          </a:p>
          <a:p>
            <a:r>
              <a:rPr lang="en-GB" sz="2600" dirty="0"/>
              <a:t>Arden and Gem System</a:t>
            </a:r>
          </a:p>
          <a:p>
            <a:pPr lvl="1"/>
            <a:endParaRPr lang="en-GB" sz="2200" dirty="0"/>
          </a:p>
          <a:p>
            <a:pPr lvl="1"/>
            <a:endParaRPr lang="en-GB" sz="2200" dirty="0"/>
          </a:p>
          <a:p>
            <a:endParaRPr lang="en-GB" sz="2200" baseline="30000" dirty="0"/>
          </a:p>
          <a:p>
            <a:endParaRPr lang="en-GB" sz="2200" baseline="30000" dirty="0"/>
          </a:p>
          <a:p>
            <a:endParaRPr lang="en-GB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B6146D-0CAE-2B39-2F73-F3A57C0E6392}"/>
              </a:ext>
            </a:extLst>
          </p:cNvPr>
          <p:cNvGraphicFramePr>
            <a:graphicFrameLocks noGrp="1"/>
          </p:cNvGraphicFramePr>
          <p:nvPr/>
        </p:nvGraphicFramePr>
        <p:xfrm>
          <a:off x="4654296" y="860251"/>
          <a:ext cx="6903721" cy="513750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797312">
                  <a:extLst>
                    <a:ext uri="{9D8B030D-6E8A-4147-A177-3AD203B41FA5}">
                      <a16:colId xmlns:a16="http://schemas.microsoft.com/office/drawing/2014/main" val="2317206095"/>
                    </a:ext>
                  </a:extLst>
                </a:gridCol>
                <a:gridCol w="2252992">
                  <a:extLst>
                    <a:ext uri="{9D8B030D-6E8A-4147-A177-3AD203B41FA5}">
                      <a16:colId xmlns:a16="http://schemas.microsoft.com/office/drawing/2014/main" val="357971251"/>
                    </a:ext>
                  </a:extLst>
                </a:gridCol>
                <a:gridCol w="2853417">
                  <a:extLst>
                    <a:ext uri="{9D8B030D-6E8A-4147-A177-3AD203B41FA5}">
                      <a16:colId xmlns:a16="http://schemas.microsoft.com/office/drawing/2014/main" val="1374605618"/>
                    </a:ext>
                  </a:extLst>
                </a:gridCol>
              </a:tblGrid>
              <a:tr h="631735">
                <a:tc>
                  <a:txBody>
                    <a:bodyPr/>
                    <a:lstStyle/>
                    <a:p>
                      <a:r>
                        <a:rPr lang="en-GB" sz="2400" b="0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139815" marR="139815" marT="139815" marB="69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cap="none" spc="0">
                          <a:solidFill>
                            <a:schemeClr val="bg1"/>
                          </a:solidFill>
                        </a:rPr>
                        <a:t>Pros</a:t>
                      </a:r>
                    </a:p>
                  </a:txBody>
                  <a:tcPr marL="139815" marR="139815" marT="139815" marB="69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cap="none" spc="0">
                          <a:solidFill>
                            <a:schemeClr val="bg1"/>
                          </a:solidFill>
                        </a:rPr>
                        <a:t>Con</a:t>
                      </a:r>
                    </a:p>
                  </a:txBody>
                  <a:tcPr marL="139815" marR="139815" marT="139815" marB="6990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282122"/>
                  </a:ext>
                </a:extLst>
              </a:tr>
              <a:tr h="1969825"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Spreadsheet Databases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Primary usage.</a:t>
                      </a:r>
                    </a:p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Used for daily workflow</a:t>
                      </a:r>
                    </a:p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Contain most update information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Manual input </a:t>
                      </a:r>
                      <a:r>
                        <a:rPr lang="en-GB" sz="1900" cap="none" spc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not standardized data  need data cleaning before analysis</a:t>
                      </a:r>
                      <a:endParaRPr lang="en-GB" sz="19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Contains data for UHB only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85080"/>
                  </a:ext>
                </a:extLst>
              </a:tr>
              <a:tr h="2535940">
                <a:tc>
                  <a:txBody>
                    <a:bodyPr/>
                    <a:lstStyle/>
                    <a:p>
                      <a:r>
                        <a:rPr lang="en-GB" sz="1900" cap="none" spc="0">
                          <a:solidFill>
                            <a:schemeClr val="tx1"/>
                          </a:solidFill>
                        </a:rPr>
                        <a:t>Arden and Gem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Information System with structured data</a:t>
                      </a:r>
                    </a:p>
                    <a:p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Contains data for the whole ODN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Secondary repository.  Used for data record only as the system have limited feature for daily workflow</a:t>
                      </a:r>
                    </a:p>
                    <a:p>
                      <a:endParaRPr lang="en-GB" sz="19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GB" sz="1900" cap="none" spc="0" dirty="0">
                          <a:solidFill>
                            <a:schemeClr val="tx1"/>
                          </a:solidFill>
                        </a:rPr>
                        <a:t>Not contain referral related data</a:t>
                      </a:r>
                    </a:p>
                  </a:txBody>
                  <a:tcPr marL="139815" marR="139815" marT="139815" marB="69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6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06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2B7A7E-86AD-9E2D-E2F6-64040746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Existing issues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C91300-7438-3F99-A598-5EF4F96F0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Arden and Gem contains structured treatment data for the whole ODN, but it is not suitable for the daily operation uses</a:t>
            </a:r>
          </a:p>
          <a:p>
            <a:r>
              <a:rPr lang="en-GB" sz="2200"/>
              <a:t>Referral data which are valuable is not recorded in Arden and</a:t>
            </a:r>
            <a:r>
              <a:rPr lang="zh-TW" altLang="en-US" sz="2200"/>
              <a:t> </a:t>
            </a:r>
            <a:r>
              <a:rPr lang="en-GB" altLang="zh-TW" sz="2200"/>
              <a:t>Gem</a:t>
            </a:r>
          </a:p>
          <a:p>
            <a:r>
              <a:rPr lang="en-GB" sz="2200"/>
              <a:t>Local spreadsheets are created to facilitate daily workflow</a:t>
            </a:r>
          </a:p>
          <a:p>
            <a:r>
              <a:rPr lang="en-GB" altLang="zh-TW" sz="2200"/>
              <a:t>Unstructured data in local spreadsheets due to manual free-text input</a:t>
            </a:r>
          </a:p>
          <a:p>
            <a:r>
              <a:rPr lang="en-GB" altLang="zh-TW" sz="2200"/>
              <a:t>Local spreadsheets with no connection to other trusts</a:t>
            </a:r>
          </a:p>
          <a:p>
            <a:r>
              <a:rPr lang="en-GB" altLang="zh-TW" sz="2200"/>
              <a:t>Double entry (local spreadsheet and Arden and Gem)</a:t>
            </a:r>
          </a:p>
          <a:p>
            <a:r>
              <a:rPr lang="en-GB" altLang="zh-TW" sz="2200"/>
              <a:t>No connection to other dataset including the treatment outcome which may be updated by other trusts</a:t>
            </a:r>
          </a:p>
          <a:p>
            <a:endParaRPr lang="en-GB" altLang="zh-TW" sz="2200"/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21806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146D3-B6F2-5400-CE1D-7861671B47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911451"/>
          <a:ext cx="11049000" cy="5035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122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05a19e2e-a8d9-4665-942c-6a4dd3e6bcd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11C4D14A89F843935362F20A6A4FD7" ma:contentTypeVersion="8" ma:contentTypeDescription="Create a new document." ma:contentTypeScope="" ma:versionID="618f03793085babe71319e3faa3c8b2b">
  <xsd:schema xmlns:xsd="http://www.w3.org/2001/XMLSchema" xmlns:xs="http://www.w3.org/2001/XMLSchema" xmlns:p="http://schemas.microsoft.com/office/2006/metadata/properties" xmlns:ns1="http://schemas.microsoft.com/sharepoint/v3" xmlns:ns3="05a19e2e-a8d9-4665-942c-6a4dd3e6bcd0" targetNamespace="http://schemas.microsoft.com/office/2006/metadata/properties" ma:root="true" ma:fieldsID="8bfe682b3873769c048a432835bbc44d" ns1:_="" ns3:_="">
    <xsd:import namespace="http://schemas.microsoft.com/sharepoint/v3"/>
    <xsd:import namespace="05a19e2e-a8d9-4665-942c-6a4dd3e6bc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1:_ip_UnifiedCompliancePolicyProperties" minOccurs="0"/>
                <xsd:element ref="ns1:_ip_UnifiedCompliancePolicyUIAc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a19e2e-a8d9-4665-942c-6a4dd3e6bc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809513-D859-4FB8-80CF-7CA2CBF93019}">
  <ds:schemaRefs>
    <ds:schemaRef ds:uri="http://purl.org/dc/dcmitype/"/>
    <ds:schemaRef ds:uri="http://purl.org/dc/terms/"/>
    <ds:schemaRef ds:uri="http://schemas.microsoft.com/sharepoint/v3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05a19e2e-a8d9-4665-942c-6a4dd3e6bcd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ADE4DDB-3FB1-4949-8B30-CEFA27BBE9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a19e2e-a8d9-4665-942c-6a4dd3e6bc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6FDB38-F886-4FAA-BFBE-A12FDC3540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42255ec-e1af-44ac-b676-7700d3d39603}" enabled="1" method="Standard" siteId="{1a07c565-b111-42d0-ada8-16998c72bd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1994</TotalTime>
  <Words>1197</Words>
  <Application>Microsoft Office PowerPoint</Application>
  <PresentationFormat>Widescreen</PresentationFormat>
  <Paragraphs>186</Paragraphs>
  <Slides>22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Office Theme</vt:lpstr>
      <vt:lpstr>Birmingham ODN Hepatitis Data </vt:lpstr>
      <vt:lpstr>How Data Is Currently Stored</vt:lpstr>
      <vt:lpstr>Do We Have Clear Visibility of Our Data?</vt:lpstr>
      <vt:lpstr>What We Have Done</vt:lpstr>
      <vt:lpstr>EDTest project</vt:lpstr>
      <vt:lpstr>Centralized dashboard</vt:lpstr>
      <vt:lpstr>What’s Next?  </vt:lpstr>
      <vt:lpstr>Patient Panel </vt:lpstr>
      <vt:lpstr>Patient Details </vt:lpstr>
      <vt:lpstr>Patient Details – Background Color Highlight</vt:lpstr>
      <vt:lpstr>Outreach Referrals</vt:lpstr>
      <vt:lpstr>ED Referral</vt:lpstr>
      <vt:lpstr>Treatment records</vt:lpstr>
      <vt:lpstr>Historical data</vt:lpstr>
      <vt:lpstr>Arden and Gem</vt:lpstr>
      <vt:lpstr>Patient Follow up</vt:lpstr>
      <vt:lpstr>Reports</vt:lpstr>
      <vt:lpstr>Centralized Dashboards</vt:lpstr>
      <vt:lpstr>Proposed Data Structures</vt:lpstr>
      <vt:lpstr>Database – existing</vt:lpstr>
      <vt:lpstr>Existing issues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Midlands (Birmingham) Hepatitis C</dc:title>
  <dc:creator>Cathy Chan</dc:creator>
  <cp:lastModifiedBy>Cathy Chan</cp:lastModifiedBy>
  <cp:revision>88</cp:revision>
  <dcterms:created xsi:type="dcterms:W3CDTF">2024-07-08T06:59:24Z</dcterms:created>
  <dcterms:modified xsi:type="dcterms:W3CDTF">2026-02-16T09:54:02Z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0x010100E111C4D14A89F843935362F20A6A4FD7</vt:lpwstr>
  </property>
</Properties>
</file>